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6" r:id="rId2"/>
    <p:sldId id="267" r:id="rId3"/>
    <p:sldId id="268" r:id="rId4"/>
    <p:sldId id="257" r:id="rId5"/>
    <p:sldId id="270" r:id="rId6"/>
    <p:sldId id="269" r:id="rId7"/>
    <p:sldId id="271" r:id="rId8"/>
    <p:sldId id="277" r:id="rId9"/>
    <p:sldId id="272" r:id="rId10"/>
    <p:sldId id="274" r:id="rId11"/>
    <p:sldId id="263" r:id="rId12"/>
    <p:sldId id="264" r:id="rId13"/>
    <p:sldId id="276" r:id="rId14"/>
    <p:sldId id="273" r:id="rId15"/>
    <p:sldId id="281" r:id="rId16"/>
    <p:sldId id="279" r:id="rId17"/>
    <p:sldId id="280" r:id="rId18"/>
    <p:sldId id="266" r:id="rId19"/>
    <p:sldId id="282" r:id="rId20"/>
  </p:sldIdLst>
  <p:sldSz cx="9144000" cy="6858000" type="screen4x3"/>
  <p:notesSz cx="6865938" cy="91582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BEA799-6E7F-46AC-B442-A10A71941BDF}" v="2" dt="2022-11-14T11:08:37.8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53"/>
    <p:restoredTop sz="92362" autoAdjust="0"/>
  </p:normalViewPr>
  <p:slideViewPr>
    <p:cSldViewPr>
      <p:cViewPr varScale="1">
        <p:scale>
          <a:sx n="105" d="100"/>
          <a:sy n="105" d="100"/>
        </p:scale>
        <p:origin x="1560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rgeret, Alix" userId="2b14d67b-edbf-45e0-a6ef-71e04653e348" providerId="ADAL" clId="{E4BEA799-6E7F-46AC-B442-A10A71941BDF}"/>
    <pc:docChg chg="custSel delSld modSld">
      <pc:chgData name="Bergeret, Alix" userId="2b14d67b-edbf-45e0-a6ef-71e04653e348" providerId="ADAL" clId="{E4BEA799-6E7F-46AC-B442-A10A71941BDF}" dt="2022-11-14T11:14:31.090" v="101" actId="20577"/>
      <pc:docMkLst>
        <pc:docMk/>
      </pc:docMkLst>
      <pc:sldChg chg="modSp">
        <pc:chgData name="Bergeret, Alix" userId="2b14d67b-edbf-45e0-a6ef-71e04653e348" providerId="ADAL" clId="{E4BEA799-6E7F-46AC-B442-A10A71941BDF}" dt="2022-11-14T11:08:37.842" v="33" actId="14100"/>
        <pc:sldMkLst>
          <pc:docMk/>
          <pc:sldMk cId="3542305738" sldId="257"/>
        </pc:sldMkLst>
        <pc:picChg chg="mod">
          <ac:chgData name="Bergeret, Alix" userId="2b14d67b-edbf-45e0-a6ef-71e04653e348" providerId="ADAL" clId="{E4BEA799-6E7F-46AC-B442-A10A71941BDF}" dt="2022-11-14T11:08:37.842" v="33" actId="14100"/>
          <ac:picMkLst>
            <pc:docMk/>
            <pc:sldMk cId="3542305738" sldId="257"/>
            <ac:picMk id="1027" creationId="{00000000-0000-0000-0000-000000000000}"/>
          </ac:picMkLst>
        </pc:picChg>
      </pc:sldChg>
      <pc:sldChg chg="modSp mod">
        <pc:chgData name="Bergeret, Alix" userId="2b14d67b-edbf-45e0-a6ef-71e04653e348" providerId="ADAL" clId="{E4BEA799-6E7F-46AC-B442-A10A71941BDF}" dt="2022-11-14T11:01:16.664" v="4" actId="790"/>
        <pc:sldMkLst>
          <pc:docMk/>
          <pc:sldMk cId="3199186147" sldId="270"/>
        </pc:sldMkLst>
        <pc:spChg chg="mod">
          <ac:chgData name="Bergeret, Alix" userId="2b14d67b-edbf-45e0-a6ef-71e04653e348" providerId="ADAL" clId="{E4BEA799-6E7F-46AC-B442-A10A71941BDF}" dt="2022-11-14T11:01:16.664" v="4" actId="790"/>
          <ac:spMkLst>
            <pc:docMk/>
            <pc:sldMk cId="3199186147" sldId="270"/>
            <ac:spMk id="3" creationId="{95C246C6-B136-4AC3-96E6-41F4BACAA6EB}"/>
          </ac:spMkLst>
        </pc:spChg>
      </pc:sldChg>
      <pc:sldChg chg="modSp mod">
        <pc:chgData name="Bergeret, Alix" userId="2b14d67b-edbf-45e0-a6ef-71e04653e348" providerId="ADAL" clId="{E4BEA799-6E7F-46AC-B442-A10A71941BDF}" dt="2022-11-14T11:14:31.090" v="101" actId="20577"/>
        <pc:sldMkLst>
          <pc:docMk/>
          <pc:sldMk cId="169722782" sldId="272"/>
        </pc:sldMkLst>
        <pc:spChg chg="mod">
          <ac:chgData name="Bergeret, Alix" userId="2b14d67b-edbf-45e0-a6ef-71e04653e348" providerId="ADAL" clId="{E4BEA799-6E7F-46AC-B442-A10A71941BDF}" dt="2022-11-14T11:14:31.090" v="101" actId="20577"/>
          <ac:spMkLst>
            <pc:docMk/>
            <pc:sldMk cId="169722782" sldId="272"/>
            <ac:spMk id="3" creationId="{7136B9F8-B73C-46DA-9075-F60C433CCC1F}"/>
          </ac:spMkLst>
        </pc:spChg>
      </pc:sldChg>
      <pc:sldChg chg="modSp mod">
        <pc:chgData name="Bergeret, Alix" userId="2b14d67b-edbf-45e0-a6ef-71e04653e348" providerId="ADAL" clId="{E4BEA799-6E7F-46AC-B442-A10A71941BDF}" dt="2022-11-14T11:00:20.579" v="3" actId="6549"/>
        <pc:sldMkLst>
          <pc:docMk/>
          <pc:sldMk cId="1881045818" sldId="273"/>
        </pc:sldMkLst>
        <pc:spChg chg="mod">
          <ac:chgData name="Bergeret, Alix" userId="2b14d67b-edbf-45e0-a6ef-71e04653e348" providerId="ADAL" clId="{E4BEA799-6E7F-46AC-B442-A10A71941BDF}" dt="2022-11-14T11:00:20.579" v="3" actId="6549"/>
          <ac:spMkLst>
            <pc:docMk/>
            <pc:sldMk cId="1881045818" sldId="273"/>
            <ac:spMk id="3" creationId="{85FE0D2F-EB2A-486F-9ED0-56D0B61B3218}"/>
          </ac:spMkLst>
        </pc:spChg>
      </pc:sldChg>
      <pc:sldChg chg="addSp delSp modSp mod">
        <pc:chgData name="Bergeret, Alix" userId="2b14d67b-edbf-45e0-a6ef-71e04653e348" providerId="ADAL" clId="{E4BEA799-6E7F-46AC-B442-A10A71941BDF}" dt="2022-11-14T11:03:39.467" v="14" actId="1038"/>
        <pc:sldMkLst>
          <pc:docMk/>
          <pc:sldMk cId="2345300865" sldId="274"/>
        </pc:sldMkLst>
        <pc:spChg chg="del">
          <ac:chgData name="Bergeret, Alix" userId="2b14d67b-edbf-45e0-a6ef-71e04653e348" providerId="ADAL" clId="{E4BEA799-6E7F-46AC-B442-A10A71941BDF}" dt="2022-11-14T11:03:11.487" v="6" actId="478"/>
          <ac:spMkLst>
            <pc:docMk/>
            <pc:sldMk cId="2345300865" sldId="274"/>
            <ac:spMk id="3" creationId="{8E770D76-BD50-46D3-A108-F43581B7610D}"/>
          </ac:spMkLst>
        </pc:spChg>
        <pc:spChg chg="del">
          <ac:chgData name="Bergeret, Alix" userId="2b14d67b-edbf-45e0-a6ef-71e04653e348" providerId="ADAL" clId="{E4BEA799-6E7F-46AC-B442-A10A71941BDF}" dt="2022-11-14T11:03:13.391" v="7" actId="478"/>
          <ac:spMkLst>
            <pc:docMk/>
            <pc:sldMk cId="2345300865" sldId="274"/>
            <ac:spMk id="5" creationId="{35B6C717-8F80-4286-B921-E859A7287276}"/>
          </ac:spMkLst>
        </pc:spChg>
        <pc:picChg chg="del">
          <ac:chgData name="Bergeret, Alix" userId="2b14d67b-edbf-45e0-a6ef-71e04653e348" providerId="ADAL" clId="{E4BEA799-6E7F-46AC-B442-A10A71941BDF}" dt="2022-11-14T11:03:08.942" v="5" actId="478"/>
          <ac:picMkLst>
            <pc:docMk/>
            <pc:sldMk cId="2345300865" sldId="274"/>
            <ac:picMk id="4" creationId="{A62C1B87-45F7-469C-A00B-0297853F82C7}"/>
          </ac:picMkLst>
        </pc:picChg>
        <pc:picChg chg="add mod">
          <ac:chgData name="Bergeret, Alix" userId="2b14d67b-edbf-45e0-a6ef-71e04653e348" providerId="ADAL" clId="{E4BEA799-6E7F-46AC-B442-A10A71941BDF}" dt="2022-11-14T11:03:39.467" v="14" actId="1038"/>
          <ac:picMkLst>
            <pc:docMk/>
            <pc:sldMk cId="2345300865" sldId="274"/>
            <ac:picMk id="7" creationId="{66A5B914-C77D-187D-62F0-58B59409B24F}"/>
          </ac:picMkLst>
        </pc:picChg>
      </pc:sldChg>
      <pc:sldChg chg="del">
        <pc:chgData name="Bergeret, Alix" userId="2b14d67b-edbf-45e0-a6ef-71e04653e348" providerId="ADAL" clId="{E4BEA799-6E7F-46AC-B442-A10A71941BDF}" dt="2022-11-14T11:03:52.117" v="15" actId="47"/>
        <pc:sldMkLst>
          <pc:docMk/>
          <pc:sldMk cId="1238471229" sldId="275"/>
        </pc:sldMkLst>
      </pc:sldChg>
      <pc:sldChg chg="modSp mod">
        <pc:chgData name="Bergeret, Alix" userId="2b14d67b-edbf-45e0-a6ef-71e04653e348" providerId="ADAL" clId="{E4BEA799-6E7F-46AC-B442-A10A71941BDF}" dt="2022-11-14T11:11:25.157" v="80" actId="20577"/>
        <pc:sldMkLst>
          <pc:docMk/>
          <pc:sldMk cId="357023914" sldId="276"/>
        </pc:sldMkLst>
        <pc:spChg chg="mod">
          <ac:chgData name="Bergeret, Alix" userId="2b14d67b-edbf-45e0-a6ef-71e04653e348" providerId="ADAL" clId="{E4BEA799-6E7F-46AC-B442-A10A71941BDF}" dt="2022-11-14T11:11:25.157" v="80" actId="20577"/>
          <ac:spMkLst>
            <pc:docMk/>
            <pc:sldMk cId="357023914" sldId="276"/>
            <ac:spMk id="3" creationId="{4E626395-7612-4E50-8A9A-D8DE7BD9615D}"/>
          </ac:spMkLst>
        </pc:spChg>
      </pc:sldChg>
      <pc:sldChg chg="addSp modSp mod">
        <pc:chgData name="Bergeret, Alix" userId="2b14d67b-edbf-45e0-a6ef-71e04653e348" providerId="ADAL" clId="{E4BEA799-6E7F-46AC-B442-A10A71941BDF}" dt="2022-11-14T11:08:12.579" v="30" actId="14100"/>
        <pc:sldMkLst>
          <pc:docMk/>
          <pc:sldMk cId="4253532590" sldId="280"/>
        </pc:sldMkLst>
        <pc:spChg chg="mod">
          <ac:chgData name="Bergeret, Alix" userId="2b14d67b-edbf-45e0-a6ef-71e04653e348" providerId="ADAL" clId="{E4BEA799-6E7F-46AC-B442-A10A71941BDF}" dt="2022-11-14T11:08:00.531" v="21" actId="14100"/>
          <ac:spMkLst>
            <pc:docMk/>
            <pc:sldMk cId="4253532590" sldId="280"/>
            <ac:spMk id="3" creationId="{A02345E1-9B95-43C7-980E-A9BE4857548A}"/>
          </ac:spMkLst>
        </pc:spChg>
        <pc:picChg chg="add mod">
          <ac:chgData name="Bergeret, Alix" userId="2b14d67b-edbf-45e0-a6ef-71e04653e348" providerId="ADAL" clId="{E4BEA799-6E7F-46AC-B442-A10A71941BDF}" dt="2022-11-14T11:08:12.579" v="30" actId="14100"/>
          <ac:picMkLst>
            <pc:docMk/>
            <pc:sldMk cId="4253532590" sldId="280"/>
            <ac:picMk id="5" creationId="{A9D1764D-720C-18BA-7AF6-D9D23AD6A4F1}"/>
          </ac:picMkLst>
        </pc:picChg>
      </pc:sldChg>
      <pc:sldChg chg="modSp mod">
        <pc:chgData name="Bergeret, Alix" userId="2b14d67b-edbf-45e0-a6ef-71e04653e348" providerId="ADAL" clId="{E4BEA799-6E7F-46AC-B442-A10A71941BDF}" dt="2022-11-14T11:08:26.677" v="32" actId="20577"/>
        <pc:sldMkLst>
          <pc:docMk/>
          <pc:sldMk cId="765431858" sldId="282"/>
        </pc:sldMkLst>
        <pc:spChg chg="mod">
          <ac:chgData name="Bergeret, Alix" userId="2b14d67b-edbf-45e0-a6ef-71e04653e348" providerId="ADAL" clId="{E4BEA799-6E7F-46AC-B442-A10A71941BDF}" dt="2022-11-14T11:08:26.677" v="32" actId="20577"/>
          <ac:spMkLst>
            <pc:docMk/>
            <pc:sldMk cId="765431858" sldId="282"/>
            <ac:spMk id="3" creationId="{BE67B51F-D254-0341-B850-F9AF131768E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5240" cy="459505"/>
          </a:xfrm>
          <a:prstGeom prst="rect">
            <a:avLst/>
          </a:prstGeom>
        </p:spPr>
        <p:txBody>
          <a:bodyPr vert="horz" lIns="91559" tIns="45779" rIns="91559" bIns="45779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9109" y="0"/>
            <a:ext cx="2975240" cy="459505"/>
          </a:xfrm>
          <a:prstGeom prst="rect">
            <a:avLst/>
          </a:prstGeom>
        </p:spPr>
        <p:txBody>
          <a:bodyPr vert="horz" lIns="91559" tIns="45779" rIns="91559" bIns="45779" rtlCol="0"/>
          <a:lstStyle>
            <a:lvl1pPr algn="r">
              <a:defRPr sz="1200"/>
            </a:lvl1pPr>
          </a:lstStyle>
          <a:p>
            <a:fld id="{95EFB1DE-66C7-437C-ACE5-C10E9C3BF7A0}" type="datetimeFigureOut">
              <a:rPr lang="en-GB" smtClean="0"/>
              <a:t>14/11/2022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3188" y="1144588"/>
            <a:ext cx="4119562" cy="30908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9" tIns="45779" rIns="91559" bIns="4577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6594" y="4407426"/>
            <a:ext cx="5492750" cy="3606076"/>
          </a:xfrm>
          <a:prstGeom prst="rect">
            <a:avLst/>
          </a:prstGeom>
        </p:spPr>
        <p:txBody>
          <a:bodyPr vert="horz" lIns="91559" tIns="45779" rIns="91559" bIns="4577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98785"/>
            <a:ext cx="2975240" cy="459504"/>
          </a:xfrm>
          <a:prstGeom prst="rect">
            <a:avLst/>
          </a:prstGeom>
        </p:spPr>
        <p:txBody>
          <a:bodyPr vert="horz" lIns="91559" tIns="45779" rIns="91559" bIns="45779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9109" y="8698785"/>
            <a:ext cx="2975240" cy="459504"/>
          </a:xfrm>
          <a:prstGeom prst="rect">
            <a:avLst/>
          </a:prstGeom>
        </p:spPr>
        <p:txBody>
          <a:bodyPr vert="horz" lIns="91559" tIns="45779" rIns="91559" bIns="45779" rtlCol="0" anchor="b"/>
          <a:lstStyle>
            <a:lvl1pPr algn="r">
              <a:defRPr sz="1200"/>
            </a:lvl1pPr>
          </a:lstStyle>
          <a:p>
            <a:fld id="{59FA7076-CEBF-4F4D-B90B-785157CD9DC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94624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Likert scale – measure attitude.</a:t>
            </a:r>
          </a:p>
          <a:p>
            <a:r>
              <a:rPr lang="en-GB" dirty="0"/>
              <a:t>Bias – ask if broken the law, could be rephased. For example, felt under pressure to drive over speed limit in order to keep an appointment.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FA7076-CEBF-4F4D-B90B-785157CD9DC9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3357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storigen.com/steps-performing-security-testing/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analytics.google.com/analytics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otjar.com/blog/qualitative-vs-quantitative-user-research/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3200" b="1" dirty="0"/>
              <a:t>Artefact testing</a:t>
            </a:r>
            <a:br>
              <a:rPr lang="en-GB" sz="3200" dirty="0"/>
            </a:br>
            <a:r>
              <a:rPr lang="en-GB" sz="2800" i="1" dirty="0"/>
              <a:t>(AKA Experimentation / Results)</a:t>
            </a:r>
            <a:endParaRPr lang="en-GB" sz="3200" i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Alix Bergeret</a:t>
            </a:r>
          </a:p>
        </p:txBody>
      </p:sp>
    </p:spTree>
    <p:extLst>
      <p:ext uri="{BB962C8B-B14F-4D97-AF65-F5344CB8AC3E}">
        <p14:creationId xmlns:p14="http://schemas.microsoft.com/office/powerpoint/2010/main" val="2851140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9AD38-243B-438B-93CD-0F63F8F31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4F4F7-62BC-4FEE-9A04-77AB64345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By the end of this session you will be able to:</a:t>
            </a:r>
          </a:p>
          <a:p>
            <a:pPr lvl="1"/>
            <a:r>
              <a:rPr lang="en-GB" dirty="0"/>
              <a:t>explain key artefact testing stages.</a:t>
            </a:r>
          </a:p>
          <a:p>
            <a:pPr lvl="1"/>
            <a:r>
              <a:rPr lang="en-GB" dirty="0"/>
              <a:t>explain the difference between qualitative and quantitative data.</a:t>
            </a:r>
          </a:p>
          <a:p>
            <a:pPr lvl="1"/>
            <a:r>
              <a:rPr lang="en-GB" dirty="0"/>
              <a:t>explain key principles of questionnaire design.</a:t>
            </a:r>
          </a:p>
          <a:p>
            <a:pPr lvl="1"/>
            <a:r>
              <a:rPr lang="en-GB" dirty="0"/>
              <a:t>apply artefact testing principles to your own research project.</a:t>
            </a:r>
          </a:p>
          <a:p>
            <a:pPr lvl="1"/>
            <a:endParaRPr lang="en-GB" dirty="0"/>
          </a:p>
          <a:p>
            <a:pPr lvl="1"/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14605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39E9B-1D8A-4CF0-93C1-30B6C147F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Artefact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57F7E-DA61-40B0-A749-1F249F32D1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b="1" dirty="0"/>
              <a:t>You will be testing your artefacts with regards to your academic question and aims.</a:t>
            </a:r>
          </a:p>
          <a:p>
            <a:r>
              <a:rPr lang="en-GB" sz="2800" dirty="0">
                <a:solidFill>
                  <a:srgbClr val="0070C0"/>
                </a:solidFill>
              </a:rPr>
              <a:t>This is different from functional testing.</a:t>
            </a:r>
          </a:p>
          <a:p>
            <a:pPr lvl="1"/>
            <a:r>
              <a:rPr lang="en-GB" sz="2400" dirty="0"/>
              <a:t>You still need to make sure your artefact works before you test it with regards to your academic question and aims.</a:t>
            </a:r>
          </a:p>
          <a:p>
            <a:pPr lvl="1"/>
            <a:r>
              <a:rPr lang="en-GB" sz="2400" dirty="0"/>
              <a:t>You typically don’t need to include any details of your functional testing in your academic report.</a:t>
            </a:r>
          </a:p>
          <a:p>
            <a:pPr lvl="2"/>
            <a:r>
              <a:rPr lang="en-GB" sz="2200" i="1" dirty="0"/>
              <a:t>Speak to your supervisor if you have any questions.</a:t>
            </a:r>
          </a:p>
          <a:p>
            <a:r>
              <a:rPr lang="en-GB" dirty="0"/>
              <a:t>This is an important part of the project.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758247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Artefact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876800"/>
          </a:xfrm>
        </p:spPr>
        <p:txBody>
          <a:bodyPr/>
          <a:lstStyle/>
          <a:p>
            <a:r>
              <a:rPr lang="en-GB" dirty="0"/>
              <a:t>You will be testing your artefacts with regards to your academic question and aims.</a:t>
            </a:r>
          </a:p>
          <a:p>
            <a:r>
              <a:rPr lang="en-GB" b="1" dirty="0"/>
              <a:t>What you do and the type of data you collect will depend on your project.</a:t>
            </a:r>
          </a:p>
          <a:p>
            <a:pPr lvl="1"/>
            <a:endParaRPr lang="en-GB" dirty="0"/>
          </a:p>
          <a:p>
            <a:r>
              <a:rPr lang="en-GB" dirty="0"/>
              <a:t>For example, if your academic question is about “web security”, you will need to perform </a:t>
            </a:r>
            <a:r>
              <a:rPr lang="en-GB" b="1" dirty="0"/>
              <a:t>security testing</a:t>
            </a:r>
            <a:r>
              <a:rPr lang="en-GB" dirty="0"/>
              <a:t>.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381000"/>
            <a:ext cx="2482679" cy="62066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328160" y="6172200"/>
            <a:ext cx="207264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dirty="0">
                <a:hlinkClick r:id="rId3"/>
              </a:rPr>
              <a:t>https://www.testorigen.com/steps-performing-security-testing/</a:t>
            </a:r>
            <a:endParaRPr lang="en-GB" sz="1050" dirty="0"/>
          </a:p>
        </p:txBody>
      </p:sp>
    </p:spTree>
    <p:extLst>
      <p:ext uri="{BB962C8B-B14F-4D97-AF65-F5344CB8AC3E}">
        <p14:creationId xmlns:p14="http://schemas.microsoft.com/office/powerpoint/2010/main" val="3542305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28AFC-5EFD-4E94-9535-F381C04B7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Artefact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246C6-B136-4AC3-96E6-41F4BACAA6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sz="2800" dirty="0"/>
              <a:t>You will need to analyse the execution of your artefact, gather data on its outcome and evaluate the results.</a:t>
            </a:r>
          </a:p>
          <a:p>
            <a:r>
              <a:rPr lang="en-GB" sz="2800" dirty="0"/>
              <a:t>There are three general steps:</a:t>
            </a:r>
          </a:p>
          <a:p>
            <a:pPr lvl="1"/>
            <a:r>
              <a:rPr lang="en-GB" sz="2400" dirty="0"/>
              <a:t>Gathering data.</a:t>
            </a:r>
          </a:p>
          <a:p>
            <a:pPr lvl="2"/>
            <a:r>
              <a:rPr lang="en-GB" sz="2200" dirty="0"/>
              <a:t>E.g. run </a:t>
            </a:r>
            <a:r>
              <a:rPr lang="fr-FR" sz="2200" dirty="0"/>
              <a:t>tests / </a:t>
            </a:r>
            <a:r>
              <a:rPr lang="en-GB" sz="2200" dirty="0"/>
              <a:t>experiments</a:t>
            </a:r>
            <a:r>
              <a:rPr lang="fr-FR" sz="2200" dirty="0"/>
              <a:t>, questionnaires, semi-</a:t>
            </a:r>
            <a:r>
              <a:rPr lang="fr-FR" sz="2200" dirty="0" err="1"/>
              <a:t>structured</a:t>
            </a:r>
            <a:r>
              <a:rPr lang="fr-FR" sz="2200" dirty="0"/>
              <a:t> interviews.</a:t>
            </a:r>
            <a:endParaRPr lang="en-GB" sz="2200" dirty="0"/>
          </a:p>
          <a:p>
            <a:pPr lvl="1"/>
            <a:r>
              <a:rPr lang="en-GB" sz="2400" dirty="0"/>
              <a:t>Analysing the data.</a:t>
            </a:r>
          </a:p>
          <a:p>
            <a:pPr lvl="2"/>
            <a:r>
              <a:rPr lang="en-GB" sz="2000" dirty="0"/>
              <a:t>Preparation.</a:t>
            </a:r>
          </a:p>
          <a:p>
            <a:pPr lvl="2"/>
            <a:r>
              <a:rPr lang="en-GB" sz="2000" dirty="0"/>
              <a:t>Presentation.</a:t>
            </a:r>
          </a:p>
          <a:p>
            <a:pPr lvl="2"/>
            <a:r>
              <a:rPr lang="en-GB" sz="2000" dirty="0"/>
              <a:t>Interpretation.</a:t>
            </a:r>
          </a:p>
          <a:p>
            <a:pPr lvl="1"/>
            <a:r>
              <a:rPr lang="en-GB" sz="2400" dirty="0"/>
              <a:t>Evaluate the results of the analysis.</a:t>
            </a:r>
          </a:p>
          <a:p>
            <a:pPr lvl="2"/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3F71AF-696E-0348-A6BE-04DE0CF58B94}"/>
              </a:ext>
            </a:extLst>
          </p:cNvPr>
          <p:cNvSpPr txBox="1"/>
          <p:nvPr/>
        </p:nvSpPr>
        <p:spPr>
          <a:xfrm>
            <a:off x="4953000" y="6350913"/>
            <a:ext cx="4114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1" dirty="0"/>
              <a:t>Source:</a:t>
            </a:r>
            <a:r>
              <a:rPr lang="en-US" sz="1050" dirty="0"/>
              <a:t> Success in Your Project: a guide to student system development projects. ISBN-13: 978-0273678090.</a:t>
            </a:r>
          </a:p>
        </p:txBody>
      </p:sp>
    </p:spTree>
    <p:extLst>
      <p:ext uri="{BB962C8B-B14F-4D97-AF65-F5344CB8AC3E}">
        <p14:creationId xmlns:p14="http://schemas.microsoft.com/office/powerpoint/2010/main" val="3199186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7A6D5-C636-4151-97F6-16C256E05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Artefact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5904A-55FB-48C0-A7C9-35EEE5FD6A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How you go about these three general steps for your artefact testing generally defines your projects research </a:t>
            </a:r>
            <a:r>
              <a:rPr lang="en-GB" sz="2800" b="1" dirty="0"/>
              <a:t>methodology</a:t>
            </a:r>
            <a:r>
              <a:rPr lang="en-GB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22742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4BFD7-D966-4FAB-925C-FCDF91C9A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Research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28062-E961-409D-8A5F-D5A6E728E6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b="1" dirty="0"/>
              <a:t>Method/Methodology </a:t>
            </a:r>
            <a:r>
              <a:rPr lang="en-GB" sz="2800" dirty="0"/>
              <a:t>– Generally, a method represents a procedure or technique used to carry out a process in a systematic way.</a:t>
            </a:r>
          </a:p>
          <a:p>
            <a:r>
              <a:rPr lang="en-GB" sz="2800" b="1" dirty="0"/>
              <a:t>Research Methodology.</a:t>
            </a:r>
          </a:p>
          <a:p>
            <a:pPr lvl="1"/>
            <a:r>
              <a:rPr lang="en-GB" sz="2400" dirty="0"/>
              <a:t>Gathering data.</a:t>
            </a:r>
          </a:p>
          <a:p>
            <a:pPr lvl="1"/>
            <a:r>
              <a:rPr lang="en-GB" sz="2400" dirty="0"/>
              <a:t>(Potentially) formulating a hypothesis or proposition.</a:t>
            </a:r>
          </a:p>
          <a:p>
            <a:pPr lvl="1"/>
            <a:r>
              <a:rPr lang="en-GB" sz="2400" dirty="0"/>
              <a:t>Testing the hypothesis / academic question.</a:t>
            </a:r>
          </a:p>
          <a:p>
            <a:pPr lvl="1"/>
            <a:r>
              <a:rPr lang="en-GB" sz="2400" dirty="0"/>
              <a:t>Analysing the data.</a:t>
            </a:r>
          </a:p>
          <a:p>
            <a:pPr lvl="1"/>
            <a:r>
              <a:rPr lang="en-GB" sz="2400" dirty="0"/>
              <a:t>Evaluate the results of the analysis.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0822B9-C185-984E-AD18-FD351D8BB60D}"/>
              </a:ext>
            </a:extLst>
          </p:cNvPr>
          <p:cNvSpPr txBox="1"/>
          <p:nvPr/>
        </p:nvSpPr>
        <p:spPr>
          <a:xfrm>
            <a:off x="3581400" y="6320135"/>
            <a:ext cx="5486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50" b="1" dirty="0"/>
              <a:t>Source:</a:t>
            </a:r>
            <a:r>
              <a:rPr lang="en-US" sz="1050" dirty="0"/>
              <a:t> Planning and implementing your final year project - with success! : a guide for students in computer science and information systems. ISBN-13: 978-1852333324.</a:t>
            </a:r>
          </a:p>
        </p:txBody>
      </p:sp>
    </p:spTree>
    <p:extLst>
      <p:ext uri="{BB962C8B-B14F-4D97-AF65-F5344CB8AC3E}">
        <p14:creationId xmlns:p14="http://schemas.microsoft.com/office/powerpoint/2010/main" val="3134052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8120E-7324-4772-B12B-322217F55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Hypothesis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CD7C6-9C7A-4DC0-84C9-C2C56B8EE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Your research question </a:t>
            </a:r>
            <a:r>
              <a:rPr lang="en-GB" b="1" dirty="0">
                <a:solidFill>
                  <a:srgbClr val="00B0F0"/>
                </a:solidFill>
              </a:rPr>
              <a:t>can</a:t>
            </a:r>
            <a:r>
              <a:rPr lang="en-GB" dirty="0"/>
              <a:t> be further refined into a hypothesis.</a:t>
            </a:r>
          </a:p>
          <a:p>
            <a:pPr lvl="1"/>
            <a:r>
              <a:rPr lang="en-GB" i="1" dirty="0"/>
              <a:t>Speak to your supervisor if you feel this may be useful.</a:t>
            </a:r>
          </a:p>
          <a:p>
            <a:pPr lvl="1"/>
            <a:r>
              <a:rPr lang="en-GB" i="1" dirty="0"/>
              <a:t>You do not necessarily need an hypothesis.</a:t>
            </a:r>
          </a:p>
          <a:p>
            <a:r>
              <a:rPr lang="en-GB" b="1" dirty="0"/>
              <a:t>An hypothesis is a short statement on the relationship between two or more variables.</a:t>
            </a:r>
          </a:p>
          <a:p>
            <a:r>
              <a:rPr lang="en-GB" dirty="0"/>
              <a:t>An hypothesis is a guess / hunch that you want to explore / answer.</a:t>
            </a:r>
          </a:p>
          <a:p>
            <a:r>
              <a:rPr lang="en-GB" dirty="0"/>
              <a:t>An hypothesis typically indicates an answer to a problem, which you then test.</a:t>
            </a:r>
          </a:p>
          <a:p>
            <a:r>
              <a:rPr lang="en-GB" dirty="0"/>
              <a:t>You then verify the hypothesis via your experimentation.</a:t>
            </a:r>
          </a:p>
          <a:p>
            <a:r>
              <a:rPr lang="en-GB" dirty="0"/>
              <a:t>Example:</a:t>
            </a:r>
          </a:p>
          <a:p>
            <a:pPr lvl="1"/>
            <a:r>
              <a:rPr lang="en-GB" dirty="0"/>
              <a:t>“When agents behave more dynamic and less predictable, the game-play will be improved.”</a:t>
            </a:r>
          </a:p>
          <a:p>
            <a:pPr lvl="2"/>
            <a:r>
              <a:rPr lang="en-GB" i="1" dirty="0"/>
              <a:t>https://</a:t>
            </a:r>
            <a:r>
              <a:rPr lang="en-GB" i="1" dirty="0" err="1"/>
              <a:t>www.aaai.org</a:t>
            </a:r>
            <a:r>
              <a:rPr lang="en-GB" i="1" dirty="0"/>
              <a:t>/Papers/Workshops/2007/WS-07-01/WS07-01-001.pdf</a:t>
            </a:r>
          </a:p>
        </p:txBody>
      </p:sp>
    </p:spTree>
    <p:extLst>
      <p:ext uri="{BB962C8B-B14F-4D97-AF65-F5344CB8AC3E}">
        <p14:creationId xmlns:p14="http://schemas.microsoft.com/office/powerpoint/2010/main" val="1937927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DCBB9-9ED0-48DB-98A1-F6607D4FD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Research Methodology - Types of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6B9F8-B73C-46DA-9075-F60C433CCC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One of the most important methodology choices is the type of data you are going to collect.</a:t>
            </a:r>
          </a:p>
          <a:p>
            <a:r>
              <a:rPr lang="en-GB" sz="2800" dirty="0"/>
              <a:t>Broadly, there are two types of data.</a:t>
            </a:r>
          </a:p>
          <a:p>
            <a:r>
              <a:rPr lang="en-GB" sz="2800" b="1" dirty="0"/>
              <a:t>Qualitative data. </a:t>
            </a:r>
          </a:p>
          <a:p>
            <a:pPr lvl="1"/>
            <a:r>
              <a:rPr lang="en-GB" sz="2400" dirty="0"/>
              <a:t>Opinions, textual feedback, descriptions.</a:t>
            </a:r>
          </a:p>
          <a:p>
            <a:r>
              <a:rPr lang="en-GB" sz="2800" b="1" dirty="0"/>
              <a:t>Quantitative.</a:t>
            </a:r>
          </a:p>
          <a:p>
            <a:pPr lvl="1"/>
            <a:r>
              <a:rPr lang="en-GB" sz="2400" dirty="0"/>
              <a:t>data that can be measured, e.g. measure of time, number of visits etc.</a:t>
            </a:r>
          </a:p>
          <a:p>
            <a:pPr lvl="1"/>
            <a:r>
              <a:rPr lang="en-GB" sz="2400" dirty="0"/>
              <a:t>Take the form of numbers.</a:t>
            </a:r>
          </a:p>
          <a:p>
            <a:r>
              <a:rPr lang="en-GB" sz="2800" b="1" dirty="0"/>
              <a:t>Which do you need?</a:t>
            </a:r>
          </a:p>
          <a:p>
            <a:endParaRPr lang="en-GB" sz="2800" dirty="0"/>
          </a:p>
          <a:p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697227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1448D-22C7-4A55-8A85-F033FA053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sort of data is this?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A5B914-C77D-187D-62F0-58B59409B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133600"/>
            <a:ext cx="8077200" cy="3240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5300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Types of data - </a:t>
            </a:r>
            <a:r>
              <a:rPr lang="en-GB" b="1" u="sng" dirty="0"/>
              <a:t>quantitative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562600" cy="4876800"/>
          </a:xfrm>
        </p:spPr>
        <p:txBody>
          <a:bodyPr>
            <a:normAutofit lnSpcReduction="10000"/>
          </a:bodyPr>
          <a:lstStyle/>
          <a:p>
            <a:r>
              <a:rPr lang="en-GB" b="1" dirty="0"/>
              <a:t>Quantitative</a:t>
            </a:r>
            <a:r>
              <a:rPr lang="en-GB" dirty="0"/>
              <a:t> data tells you </a:t>
            </a:r>
            <a:r>
              <a:rPr lang="en-GB" b="1" u="sng" dirty="0"/>
              <a:t>what</a:t>
            </a:r>
            <a:r>
              <a:rPr lang="en-GB" dirty="0"/>
              <a:t> is happening, not why, e.g.:</a:t>
            </a:r>
          </a:p>
          <a:p>
            <a:pPr lvl="1"/>
            <a:r>
              <a:rPr lang="en-GB" dirty="0"/>
              <a:t>This screen is slower than that one</a:t>
            </a:r>
          </a:p>
          <a:p>
            <a:pPr lvl="1"/>
            <a:r>
              <a:rPr lang="en-GB" dirty="0"/>
              <a:t>Visitors are only staying 5 seconds on this page</a:t>
            </a:r>
          </a:p>
          <a:p>
            <a:pPr lvl="1"/>
            <a:r>
              <a:rPr lang="en-GB" dirty="0"/>
              <a:t>Customers are not spending as much money on the new site</a:t>
            </a:r>
          </a:p>
          <a:p>
            <a:pPr lvl="1"/>
            <a:endParaRPr lang="en-GB" dirty="0"/>
          </a:p>
          <a:p>
            <a:r>
              <a:rPr lang="en-GB" dirty="0"/>
              <a:t>This type of data can often be collected:</a:t>
            </a:r>
          </a:p>
          <a:p>
            <a:pPr lvl="1"/>
            <a:r>
              <a:rPr lang="en-GB" u="sng" dirty="0"/>
              <a:t>Automatically</a:t>
            </a:r>
            <a:r>
              <a:rPr lang="en-GB" dirty="0"/>
              <a:t> via tools, e.g. </a:t>
            </a:r>
            <a:r>
              <a:rPr lang="en-GB" dirty="0">
                <a:hlinkClick r:id="rId2"/>
              </a:rPr>
              <a:t>Google Analytics</a:t>
            </a:r>
            <a:r>
              <a:rPr lang="en-GB" dirty="0"/>
              <a:t>, Heat maps, mouse/eye tracking, automatic testing frameworks etc.</a:t>
            </a:r>
          </a:p>
          <a:p>
            <a:pPr lvl="1"/>
            <a:r>
              <a:rPr lang="en-GB" u="sng" dirty="0"/>
              <a:t>Via user feedback</a:t>
            </a:r>
            <a:r>
              <a:rPr lang="en-GB" dirty="0"/>
              <a:t>, e.g. scaled questions.</a:t>
            </a:r>
          </a:p>
        </p:txBody>
      </p:sp>
      <p:pic>
        <p:nvPicPr>
          <p:cNvPr id="4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905000"/>
            <a:ext cx="2794253" cy="4208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54372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Types of data - </a:t>
            </a:r>
            <a:r>
              <a:rPr lang="en-GB" b="1" u="sng" dirty="0"/>
              <a:t>qualitative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772400" cy="4876800"/>
          </a:xfrm>
        </p:spPr>
        <p:txBody>
          <a:bodyPr>
            <a:normAutofit/>
          </a:bodyPr>
          <a:lstStyle/>
          <a:p>
            <a:r>
              <a:rPr lang="en-GB" b="1" dirty="0"/>
              <a:t>Qualitative </a:t>
            </a:r>
            <a:r>
              <a:rPr lang="en-GB" dirty="0"/>
              <a:t>data looks at the </a:t>
            </a:r>
            <a:r>
              <a:rPr lang="en-GB" b="1" u="sng" dirty="0"/>
              <a:t>why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Why are you not staying on this page?</a:t>
            </a:r>
          </a:p>
          <a:p>
            <a:pPr lvl="1"/>
            <a:r>
              <a:rPr lang="en-GB" dirty="0"/>
              <a:t>Why is this algorithm slower than that one.</a:t>
            </a:r>
          </a:p>
          <a:p>
            <a:endParaRPr lang="en-GB" dirty="0"/>
          </a:p>
          <a:p>
            <a:r>
              <a:rPr lang="en-GB" dirty="0"/>
              <a:t>How?</a:t>
            </a:r>
          </a:p>
          <a:p>
            <a:pPr lvl="1"/>
            <a:r>
              <a:rPr lang="en-GB" u="sng" dirty="0"/>
              <a:t>Heuristic analysis</a:t>
            </a:r>
            <a:r>
              <a:rPr lang="en-GB" dirty="0"/>
              <a:t>: an experience-based assessment of your artefact run by an expert (you?), based on an evaluation framework. (</a:t>
            </a:r>
            <a:r>
              <a:rPr lang="en-GB" dirty="0">
                <a:hlinkClick r:id="rId2"/>
              </a:rPr>
              <a:t>source</a:t>
            </a:r>
            <a:r>
              <a:rPr lang="en-GB" dirty="0"/>
              <a:t>)</a:t>
            </a:r>
          </a:p>
          <a:p>
            <a:pPr lvl="1"/>
            <a:r>
              <a:rPr lang="en-GB" u="sng" dirty="0"/>
              <a:t>User surveys and interviews</a:t>
            </a:r>
            <a:r>
              <a:rPr lang="en-GB" dirty="0"/>
              <a:t>. Writing unambiguous, unbiased open questions can be very difficult though. Also processing this data will be time consuming.</a:t>
            </a:r>
          </a:p>
          <a:p>
            <a:pPr lvl="1"/>
            <a:r>
              <a:rPr lang="en-GB" u="sng" dirty="0"/>
              <a:t>Think-aloud </a:t>
            </a:r>
            <a:r>
              <a:rPr lang="en-GB" dirty="0"/>
              <a:t>methodologies.</a:t>
            </a:r>
          </a:p>
        </p:txBody>
      </p:sp>
    </p:spTree>
    <p:extLst>
      <p:ext uri="{BB962C8B-B14F-4D97-AF65-F5344CB8AC3E}">
        <p14:creationId xmlns:p14="http://schemas.microsoft.com/office/powerpoint/2010/main" val="7529745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4D8F4-A917-4D51-ADFE-94480FE6F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26395-7612-4E50-8A9A-D8DE7BD961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Surveys / Questionnaires.</a:t>
            </a:r>
          </a:p>
          <a:p>
            <a:r>
              <a:rPr lang="en-GB" dirty="0"/>
              <a:t>A/B testing.</a:t>
            </a:r>
          </a:p>
          <a:p>
            <a:pPr lvl="1"/>
            <a:r>
              <a:rPr lang="en-GB" dirty="0"/>
              <a:t>Two versions (A and B) of a single variable are compared.</a:t>
            </a:r>
          </a:p>
          <a:p>
            <a:r>
              <a:rPr lang="en-GB" dirty="0"/>
              <a:t>Simulation data (e.g. run game and see how an artificial intelligence (AI) performs).</a:t>
            </a:r>
          </a:p>
          <a:p>
            <a:pPr lvl="1"/>
            <a:r>
              <a:rPr lang="en-GB" dirty="0"/>
              <a:t>You would collect data that documents how the AI performs. This data can then be analysed statistically.</a:t>
            </a:r>
          </a:p>
          <a:p>
            <a:r>
              <a:rPr lang="en-GB" dirty="0"/>
              <a:t>Interviews</a:t>
            </a:r>
          </a:p>
          <a:p>
            <a:pPr lvl="1"/>
            <a:r>
              <a:rPr lang="en-GB" dirty="0"/>
              <a:t>Structured?</a:t>
            </a:r>
          </a:p>
          <a:p>
            <a:pPr lvl="1"/>
            <a:r>
              <a:rPr lang="en-GB" dirty="0"/>
              <a:t>Unstructured?</a:t>
            </a:r>
          </a:p>
          <a:p>
            <a:pPr lvl="1"/>
            <a:r>
              <a:rPr lang="en-GB" dirty="0"/>
              <a:t>Semi-structured?</a:t>
            </a:r>
          </a:p>
        </p:txBody>
      </p:sp>
    </p:spTree>
    <p:extLst>
      <p:ext uri="{BB962C8B-B14F-4D97-AF65-F5344CB8AC3E}">
        <p14:creationId xmlns:p14="http://schemas.microsoft.com/office/powerpoint/2010/main" val="3570239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9836A-91E4-4A12-893C-1B1412BA4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Questionnaires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E0D2F-EB2A-486F-9ED0-56D0B61B3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Questionnaires are a good way to gather data.</a:t>
            </a:r>
          </a:p>
          <a:p>
            <a:r>
              <a:rPr lang="en-GB" sz="2800" dirty="0"/>
              <a:t>However, a badly designed questionnaire can result in unusable data or no responses.</a:t>
            </a:r>
          </a:p>
          <a:p>
            <a:endParaRPr lang="en-GB" sz="2800" b="1" dirty="0"/>
          </a:p>
          <a:p>
            <a:r>
              <a:rPr lang="en-GB" sz="2800" b="1" dirty="0"/>
              <a:t>Tips:</a:t>
            </a:r>
          </a:p>
          <a:p>
            <a:r>
              <a:rPr lang="en-GB" sz="2800" dirty="0"/>
              <a:t>What do you want to know?</a:t>
            </a:r>
          </a:p>
          <a:p>
            <a:r>
              <a:rPr lang="en-GB" sz="2800" dirty="0"/>
              <a:t>Who should you ask?</a:t>
            </a:r>
          </a:p>
          <a:p>
            <a:r>
              <a:rPr lang="en-GB" sz="2800" dirty="0"/>
              <a:t>Your questionnaire should be clear and well presented.</a:t>
            </a:r>
          </a:p>
        </p:txBody>
      </p:sp>
    </p:spTree>
    <p:extLst>
      <p:ext uri="{BB962C8B-B14F-4D97-AF65-F5344CB8AC3E}">
        <p14:creationId xmlns:p14="http://schemas.microsoft.com/office/powerpoint/2010/main" val="18810458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14831-B44D-A940-BE68-B77ACCB2C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Questionnaires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35027-88D1-594C-99CD-FB2C2207F3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sz="2800" b="1" dirty="0"/>
              <a:t>Types of question.</a:t>
            </a:r>
          </a:p>
          <a:p>
            <a:pPr lvl="1"/>
            <a:r>
              <a:rPr lang="en-GB" sz="2400" dirty="0"/>
              <a:t>Open – respondent can use their own words. </a:t>
            </a:r>
          </a:p>
          <a:p>
            <a:pPr lvl="1"/>
            <a:r>
              <a:rPr lang="en-GB" sz="2400" dirty="0"/>
              <a:t>Closed – has limited options for the respondent.</a:t>
            </a:r>
          </a:p>
          <a:p>
            <a:r>
              <a:rPr lang="en-GB" sz="2800" dirty="0"/>
              <a:t>Minimise bias in questions.</a:t>
            </a:r>
          </a:p>
          <a:p>
            <a:pPr lvl="1"/>
            <a:r>
              <a:rPr lang="en-GB" sz="2400" dirty="0"/>
              <a:t>Avoid leading questions.</a:t>
            </a:r>
          </a:p>
          <a:p>
            <a:pPr lvl="2"/>
            <a:r>
              <a:rPr lang="en-GB" sz="2200" dirty="0"/>
              <a:t>Example: Did you like my excellent software?</a:t>
            </a:r>
          </a:p>
          <a:p>
            <a:pPr lvl="2"/>
            <a:r>
              <a:rPr lang="en-GB" sz="2200" dirty="0"/>
              <a:t>A more neutral question: How would you rate the new software?</a:t>
            </a:r>
          </a:p>
          <a:p>
            <a:pPr lvl="1"/>
            <a:r>
              <a:rPr lang="en-GB" sz="2400" dirty="0"/>
              <a:t>Also, people answer questions based on their perception of the question. Again, a neutral question will make it easier to answer. </a:t>
            </a:r>
          </a:p>
          <a:p>
            <a:r>
              <a:rPr lang="en-GB" sz="2800" dirty="0"/>
              <a:t>Be specific and avoid jargon.</a:t>
            </a:r>
          </a:p>
          <a:p>
            <a:r>
              <a:rPr lang="en-GB" sz="2800" dirty="0"/>
              <a:t>Think about the options for your closed questions.</a:t>
            </a:r>
          </a:p>
          <a:p>
            <a:pPr lvl="1"/>
            <a:r>
              <a:rPr lang="en-GB" sz="2400" b="1" dirty="0"/>
              <a:t>Survey scale.</a:t>
            </a:r>
          </a:p>
          <a:p>
            <a:pPr lvl="1"/>
            <a:r>
              <a:rPr lang="en-GB" sz="2400" dirty="0"/>
              <a:t>Example: Likert scale.</a:t>
            </a:r>
          </a:p>
          <a:p>
            <a:pPr lvl="3"/>
            <a:r>
              <a:rPr lang="en-GB" sz="2000" dirty="0"/>
              <a:t>5 or 7-point scale. Measures attitudes.</a:t>
            </a:r>
          </a:p>
          <a:p>
            <a:pPr lvl="3"/>
            <a:r>
              <a:rPr lang="en-GB" sz="2000" dirty="0"/>
              <a:t>For example:</a:t>
            </a:r>
          </a:p>
          <a:p>
            <a:pPr lvl="4"/>
            <a:r>
              <a:rPr lang="en-GB" sz="1800" dirty="0"/>
              <a:t>not at all satisfied, slightly satisfied, moderately satisfied, very satisfied, and completely satisfied.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1546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75114-6F4D-47B2-BB31-376152513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Questionnaires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9B9C5-9B25-4B3E-859C-53591CE7A9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Examples: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256C9D9-A1AA-C340-A1FD-00C166530E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2150958"/>
              </p:ext>
            </p:extLst>
          </p:nvPr>
        </p:nvGraphicFramePr>
        <p:xfrm>
          <a:off x="609600" y="2388855"/>
          <a:ext cx="7924800" cy="28346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3853631948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193211817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921478088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331499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591997105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8230870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While playing, I learned about the subject I expected to learn about from the game.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Strongly Agree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Agree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 Opinion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Disagree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Strongly Disagree 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033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 think the game mechanics reflect similar real-world situations 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Strongly Agree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Agree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 Opinion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Disagree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Strongly Disagree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2045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/>
                        <a:t>I find the game to be both fun and educational 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Strongly Agree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Agree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No Opinion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Disagree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Strongly Disagree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241962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C211752-321C-0945-9911-3D0CD3E21211}"/>
              </a:ext>
            </a:extLst>
          </p:cNvPr>
          <p:cNvSpPr txBox="1"/>
          <p:nvPr/>
        </p:nvSpPr>
        <p:spPr>
          <a:xfrm>
            <a:off x="609600" y="6062990"/>
            <a:ext cx="6477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Examples Source:</a:t>
            </a:r>
          </a:p>
          <a:p>
            <a:r>
              <a:rPr lang="en-US" sz="1100" dirty="0"/>
              <a:t>https://</a:t>
            </a:r>
            <a:r>
              <a:rPr lang="en-US" sz="1100" dirty="0" err="1"/>
              <a:t>eprints.soton.ac.uk</a:t>
            </a:r>
            <a:r>
              <a:rPr lang="en-US" sz="1100" dirty="0"/>
              <a:t>/419472/1/</a:t>
            </a:r>
            <a:r>
              <a:rPr lang="en-US" sz="1100" dirty="0" err="1"/>
              <a:t>JB_ThesisFinal.pdf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9951265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23B78-3956-4DC9-9793-E68B6500A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Presenting Numerical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345E1-9B95-43C7-980E-A9BE485754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3200400" cy="4876800"/>
          </a:xfrm>
        </p:spPr>
        <p:txBody>
          <a:bodyPr>
            <a:normAutofit/>
          </a:bodyPr>
          <a:lstStyle/>
          <a:p>
            <a:r>
              <a:rPr lang="en-GB" sz="2800" dirty="0"/>
              <a:t>Tables.</a:t>
            </a:r>
          </a:p>
          <a:p>
            <a:r>
              <a:rPr lang="en-GB" sz="2800" dirty="0"/>
              <a:t>Graphs.</a:t>
            </a:r>
          </a:p>
          <a:p>
            <a:pPr lvl="1"/>
            <a:r>
              <a:rPr lang="en-GB" sz="2400" dirty="0"/>
              <a:t>Line.</a:t>
            </a:r>
          </a:p>
          <a:p>
            <a:pPr lvl="1"/>
            <a:r>
              <a:rPr lang="en-GB" sz="2400" dirty="0"/>
              <a:t>Bar.</a:t>
            </a:r>
          </a:p>
          <a:p>
            <a:pPr lvl="1"/>
            <a:r>
              <a:rPr lang="en-GB" sz="2400" dirty="0"/>
              <a:t>Pie.</a:t>
            </a:r>
          </a:p>
          <a:p>
            <a:r>
              <a:rPr lang="en-GB" sz="2800" dirty="0"/>
              <a:t>Avoid misleading graphs.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D1764D-720C-18BA-7AF6-D9D23AD6A4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199" y="1676400"/>
            <a:ext cx="4853687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5325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Let’s do an example together.</a:t>
            </a:r>
          </a:p>
          <a:p>
            <a:endParaRPr lang="en-GB" dirty="0"/>
          </a:p>
          <a:p>
            <a:r>
              <a:rPr lang="en-GB" dirty="0"/>
              <a:t>My research question is: </a:t>
            </a:r>
            <a:r>
              <a:rPr lang="en-GB" i="1" dirty="0"/>
              <a:t>“How can I make websites more usable?”</a:t>
            </a:r>
          </a:p>
          <a:p>
            <a:endParaRPr lang="en-GB" dirty="0"/>
          </a:p>
          <a:p>
            <a:r>
              <a:rPr lang="en-GB" dirty="0"/>
              <a:t>How could I test that I have achieved the above?</a:t>
            </a:r>
          </a:p>
        </p:txBody>
      </p:sp>
    </p:spTree>
    <p:extLst>
      <p:ext uri="{BB962C8B-B14F-4D97-AF65-F5344CB8AC3E}">
        <p14:creationId xmlns:p14="http://schemas.microsoft.com/office/powerpoint/2010/main" val="11051816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DC2FC-B2A2-864D-AA24-6CD4CA529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7B51F-D254-0341-B850-F9AF13176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800" dirty="0"/>
              <a:t>By the end of this session, you will be able to:</a:t>
            </a:r>
          </a:p>
          <a:p>
            <a:pPr lvl="1"/>
            <a:r>
              <a:rPr lang="en-GB" sz="2400" dirty="0"/>
              <a:t>explain key artefact testing stages.</a:t>
            </a:r>
          </a:p>
          <a:p>
            <a:pPr lvl="1"/>
            <a:r>
              <a:rPr lang="en-GB" sz="2400" dirty="0"/>
              <a:t>explain the difference between qualitative and quantitative data.</a:t>
            </a:r>
          </a:p>
          <a:p>
            <a:pPr lvl="1"/>
            <a:r>
              <a:rPr lang="en-GB" sz="2400" dirty="0"/>
              <a:t>explain key principles of questionnaire design.</a:t>
            </a:r>
          </a:p>
          <a:p>
            <a:pPr lvl="1"/>
            <a:r>
              <a:rPr lang="en-GB" sz="2400" dirty="0"/>
              <a:t>apply artefact testing principles to your own research project.</a:t>
            </a:r>
          </a:p>
          <a:p>
            <a:pPr lvl="1"/>
            <a:endParaRPr lang="en-GB" sz="2400" dirty="0"/>
          </a:p>
          <a:p>
            <a:r>
              <a:rPr lang="en-US" sz="2800" b="1" dirty="0"/>
              <a:t>Learning outcomes?</a:t>
            </a:r>
          </a:p>
          <a:p>
            <a:r>
              <a:rPr lang="en-US" sz="2800" b="1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7654318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777</TotalTime>
  <Words>1246</Words>
  <Application>Microsoft Office PowerPoint</Application>
  <PresentationFormat>On-screen Show (4:3)</PresentationFormat>
  <Paragraphs>164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Clarity</vt:lpstr>
      <vt:lpstr>Artefact testing (AKA Experimentation / Results)</vt:lpstr>
      <vt:lpstr>Learning Outcomes</vt:lpstr>
      <vt:lpstr>Artefact Testing</vt:lpstr>
      <vt:lpstr>Artefact Testing</vt:lpstr>
      <vt:lpstr>Artefact Testing</vt:lpstr>
      <vt:lpstr>Artefact Testing</vt:lpstr>
      <vt:lpstr>Research Methodology</vt:lpstr>
      <vt:lpstr>Hypothesis</vt:lpstr>
      <vt:lpstr>Research Methodology - Types of Data</vt:lpstr>
      <vt:lpstr>What sort of data is this?</vt:lpstr>
      <vt:lpstr>Types of data - quantitative</vt:lpstr>
      <vt:lpstr>Types of data - qualitative</vt:lpstr>
      <vt:lpstr>Design</vt:lpstr>
      <vt:lpstr>Questionnaires</vt:lpstr>
      <vt:lpstr>Questionnaires</vt:lpstr>
      <vt:lpstr>Questionnaires</vt:lpstr>
      <vt:lpstr>Presenting Numerical Data</vt:lpstr>
      <vt:lpstr>Example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Artefact testing</dc:title>
  <dc:creator>Alix PC</dc:creator>
  <cp:lastModifiedBy>Bergeret, Alix</cp:lastModifiedBy>
  <cp:revision>114</cp:revision>
  <cp:lastPrinted>2019-12-11T08:16:16Z</cp:lastPrinted>
  <dcterms:created xsi:type="dcterms:W3CDTF">2006-08-16T00:00:00Z</dcterms:created>
  <dcterms:modified xsi:type="dcterms:W3CDTF">2022-11-14T11:14:31Z</dcterms:modified>
</cp:coreProperties>
</file>