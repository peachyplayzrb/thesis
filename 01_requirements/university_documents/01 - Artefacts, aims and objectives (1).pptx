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0" r:id="rId12"/>
    <p:sldId id="287" r:id="rId13"/>
    <p:sldId id="282" r:id="rId14"/>
    <p:sldId id="283" r:id="rId15"/>
    <p:sldId id="285" r:id="rId16"/>
    <p:sldId id="286" r:id="rId17"/>
    <p:sldId id="288" r:id="rId18"/>
    <p:sldId id="289" r:id="rId19"/>
    <p:sldId id="284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375B63-D3DC-4582-9C2A-A5F44370E9D1}" v="234" dt="2025-09-04T15:27:25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eret, Alix" userId="2b14d67b-edbf-45e0-a6ef-71e04653e348" providerId="ADAL" clId="{E30D093E-8759-43D0-B1FC-95150307409C}"/>
    <pc:docChg chg="undo custSel addSld modSld sldOrd">
      <pc:chgData name="Bergeret, Alix" userId="2b14d67b-edbf-45e0-a6ef-71e04653e348" providerId="ADAL" clId="{E30D093E-8759-43D0-B1FC-95150307409C}" dt="2025-09-04T15:27:25.384" v="373" actId="20577"/>
      <pc:docMkLst>
        <pc:docMk/>
      </pc:docMkLst>
      <pc:sldChg chg="modSp">
        <pc:chgData name="Bergeret, Alix" userId="2b14d67b-edbf-45e0-a6ef-71e04653e348" providerId="ADAL" clId="{E30D093E-8759-43D0-B1FC-95150307409C}" dt="2025-09-04T15:15:53.662" v="37" actId="20577"/>
        <pc:sldMkLst>
          <pc:docMk/>
          <pc:sldMk cId="1447493843" sldId="282"/>
        </pc:sldMkLst>
        <pc:spChg chg="mod">
          <ac:chgData name="Bergeret, Alix" userId="2b14d67b-edbf-45e0-a6ef-71e04653e348" providerId="ADAL" clId="{E30D093E-8759-43D0-B1FC-95150307409C}" dt="2025-09-04T15:15:53.662" v="37" actId="20577"/>
          <ac:spMkLst>
            <pc:docMk/>
            <pc:sldMk cId="1447493843" sldId="282"/>
            <ac:spMk id="3" creationId="{00000000-0000-0000-0000-000000000000}"/>
          </ac:spMkLst>
        </pc:spChg>
      </pc:sldChg>
      <pc:sldChg chg="modSp modAnim">
        <pc:chgData name="Bergeret, Alix" userId="2b14d67b-edbf-45e0-a6ef-71e04653e348" providerId="ADAL" clId="{E30D093E-8759-43D0-B1FC-95150307409C}" dt="2025-09-04T15:24:04.477" v="262"/>
        <pc:sldMkLst>
          <pc:docMk/>
          <pc:sldMk cId="319427405" sldId="283"/>
        </pc:sldMkLst>
        <pc:spChg chg="mod">
          <ac:chgData name="Bergeret, Alix" userId="2b14d67b-edbf-45e0-a6ef-71e04653e348" providerId="ADAL" clId="{E30D093E-8759-43D0-B1FC-95150307409C}" dt="2025-09-04T15:23:32.319" v="260" actId="113"/>
          <ac:spMkLst>
            <pc:docMk/>
            <pc:sldMk cId="319427405" sldId="283"/>
            <ac:spMk id="3" creationId="{00000000-0000-0000-0000-000000000000}"/>
          </ac:spMkLst>
        </pc:spChg>
      </pc:sldChg>
      <pc:sldChg chg="modSp mod ord">
        <pc:chgData name="Bergeret, Alix" userId="2b14d67b-edbf-45e0-a6ef-71e04653e348" providerId="ADAL" clId="{E30D093E-8759-43D0-B1FC-95150307409C}" dt="2025-09-04T15:17:01.878" v="72" actId="20577"/>
        <pc:sldMkLst>
          <pc:docMk/>
          <pc:sldMk cId="2717412069" sldId="284"/>
        </pc:sldMkLst>
        <pc:spChg chg="mod">
          <ac:chgData name="Bergeret, Alix" userId="2b14d67b-edbf-45e0-a6ef-71e04653e348" providerId="ADAL" clId="{E30D093E-8759-43D0-B1FC-95150307409C}" dt="2025-09-04T15:16:34.327" v="71" actId="20577"/>
          <ac:spMkLst>
            <pc:docMk/>
            <pc:sldMk cId="2717412069" sldId="284"/>
            <ac:spMk id="2" creationId="{00000000-0000-0000-0000-000000000000}"/>
          </ac:spMkLst>
        </pc:spChg>
        <pc:spChg chg="mod">
          <ac:chgData name="Bergeret, Alix" userId="2b14d67b-edbf-45e0-a6ef-71e04653e348" providerId="ADAL" clId="{E30D093E-8759-43D0-B1FC-95150307409C}" dt="2025-09-04T15:17:01.878" v="72" actId="20577"/>
          <ac:spMkLst>
            <pc:docMk/>
            <pc:sldMk cId="2717412069" sldId="284"/>
            <ac:spMk id="3" creationId="{00000000-0000-0000-0000-000000000000}"/>
          </ac:spMkLst>
        </pc:spChg>
      </pc:sldChg>
      <pc:sldChg chg="modSp mod">
        <pc:chgData name="Bergeret, Alix" userId="2b14d67b-edbf-45e0-a6ef-71e04653e348" providerId="ADAL" clId="{E30D093E-8759-43D0-B1FC-95150307409C}" dt="2025-09-04T15:17:43.485" v="74" actId="20577"/>
        <pc:sldMkLst>
          <pc:docMk/>
          <pc:sldMk cId="3160496523" sldId="285"/>
        </pc:sldMkLst>
        <pc:spChg chg="mod">
          <ac:chgData name="Bergeret, Alix" userId="2b14d67b-edbf-45e0-a6ef-71e04653e348" providerId="ADAL" clId="{E30D093E-8759-43D0-B1FC-95150307409C}" dt="2025-09-04T15:17:43.485" v="74" actId="20577"/>
          <ac:spMkLst>
            <pc:docMk/>
            <pc:sldMk cId="3160496523" sldId="285"/>
            <ac:spMk id="3" creationId="{00000000-0000-0000-0000-000000000000}"/>
          </ac:spMkLst>
        </pc:spChg>
      </pc:sldChg>
      <pc:sldChg chg="modSp add mod modAnim">
        <pc:chgData name="Bergeret, Alix" userId="2b14d67b-edbf-45e0-a6ef-71e04653e348" providerId="ADAL" clId="{E30D093E-8759-43D0-B1FC-95150307409C}" dt="2025-09-04T15:27:25.384" v="373" actId="20577"/>
        <pc:sldMkLst>
          <pc:docMk/>
          <pc:sldMk cId="390223026" sldId="288"/>
        </pc:sldMkLst>
        <pc:spChg chg="mod">
          <ac:chgData name="Bergeret, Alix" userId="2b14d67b-edbf-45e0-a6ef-71e04653e348" providerId="ADAL" clId="{E30D093E-8759-43D0-B1FC-95150307409C}" dt="2025-09-04T15:18:28.012" v="99" actId="20577"/>
          <ac:spMkLst>
            <pc:docMk/>
            <pc:sldMk cId="390223026" sldId="288"/>
            <ac:spMk id="2" creationId="{C0C95665-AD9A-A6E7-FE91-454C64D4DBA7}"/>
          </ac:spMkLst>
        </pc:spChg>
        <pc:spChg chg="mod">
          <ac:chgData name="Bergeret, Alix" userId="2b14d67b-edbf-45e0-a6ef-71e04653e348" providerId="ADAL" clId="{E30D093E-8759-43D0-B1FC-95150307409C}" dt="2025-09-04T15:27:25.384" v="373" actId="20577"/>
          <ac:spMkLst>
            <pc:docMk/>
            <pc:sldMk cId="390223026" sldId="288"/>
            <ac:spMk id="3" creationId="{6ED5589A-B4EA-3163-FA9E-1C347372B816}"/>
          </ac:spMkLst>
        </pc:spChg>
      </pc:sldChg>
      <pc:sldChg chg="modSp add mod modAnim">
        <pc:chgData name="Bergeret, Alix" userId="2b14d67b-edbf-45e0-a6ef-71e04653e348" providerId="ADAL" clId="{E30D093E-8759-43D0-B1FC-95150307409C}" dt="2025-09-04T15:25:16.129" v="350" actId="115"/>
        <pc:sldMkLst>
          <pc:docMk/>
          <pc:sldMk cId="418087705" sldId="289"/>
        </pc:sldMkLst>
        <pc:spChg chg="mod">
          <ac:chgData name="Bergeret, Alix" userId="2b14d67b-edbf-45e0-a6ef-71e04653e348" providerId="ADAL" clId="{E30D093E-8759-43D0-B1FC-95150307409C}" dt="2025-09-04T15:25:16.129" v="350" actId="115"/>
          <ac:spMkLst>
            <pc:docMk/>
            <pc:sldMk cId="418087705" sldId="289"/>
            <ac:spMk id="2" creationId="{3A5E84EE-A39D-4C09-E183-693A4176A34D}"/>
          </ac:spMkLst>
        </pc:spChg>
        <pc:spChg chg="mod">
          <ac:chgData name="Bergeret, Alix" userId="2b14d67b-edbf-45e0-a6ef-71e04653e348" providerId="ADAL" clId="{E30D093E-8759-43D0-B1FC-95150307409C}" dt="2025-09-04T15:22:15.842" v="252" actId="113"/>
          <ac:spMkLst>
            <pc:docMk/>
            <pc:sldMk cId="418087705" sldId="289"/>
            <ac:spMk id="3" creationId="{AA0BE0A7-C79E-9AF0-4069-5FEA6DF93CC5}"/>
          </ac:spMkLst>
        </pc:spChg>
      </pc:sldChg>
    </pc:docChg>
  </pc:docChgLst>
  <pc:docChgLst>
    <pc:chgData name="Bergeret, Alix" userId="2b14d67b-edbf-45e0-a6ef-71e04653e348" providerId="ADAL" clId="{4C9CC939-6B9F-457E-9731-0B59E64F0EA0}"/>
    <pc:docChg chg="modSld">
      <pc:chgData name="Bergeret, Alix" userId="2b14d67b-edbf-45e0-a6ef-71e04653e348" providerId="ADAL" clId="{4C9CC939-6B9F-457E-9731-0B59E64F0EA0}" dt="2024-09-16T10:08:41.440" v="0" actId="20577"/>
      <pc:docMkLst>
        <pc:docMk/>
      </pc:docMkLst>
      <pc:sldChg chg="modSp">
        <pc:chgData name="Bergeret, Alix" userId="2b14d67b-edbf-45e0-a6ef-71e04653e348" providerId="ADAL" clId="{4C9CC939-6B9F-457E-9731-0B59E64F0EA0}" dt="2024-09-16T10:08:41.440" v="0" actId="20577"/>
        <pc:sldMkLst>
          <pc:docMk/>
          <pc:sldMk cId="892964357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Projects and Professionalism</a:t>
            </a:r>
            <a:br>
              <a:rPr lang="en-GB" dirty="0"/>
            </a:br>
            <a:r>
              <a:rPr lang="en-GB" dirty="0"/>
              <a:t>Lecture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Alix Bergeret</a:t>
            </a:r>
          </a:p>
          <a:p>
            <a:r>
              <a:rPr lang="en-GB" dirty="0"/>
              <a:t>Project Coordinator</a:t>
            </a:r>
          </a:p>
        </p:txBody>
      </p:sp>
    </p:spTree>
    <p:extLst>
      <p:ext uri="{BB962C8B-B14F-4D97-AF65-F5344CB8AC3E}">
        <p14:creationId xmlns:p14="http://schemas.microsoft.com/office/powerpoint/2010/main" val="89428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will cover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Your academic question</a:t>
            </a:r>
          </a:p>
          <a:p>
            <a:r>
              <a:rPr lang="en-GB" sz="2800" dirty="0"/>
              <a:t>Your aims</a:t>
            </a:r>
          </a:p>
          <a:p>
            <a:r>
              <a:rPr lang="en-GB" sz="2800" dirty="0"/>
              <a:t>Your objectives</a:t>
            </a:r>
          </a:p>
          <a:p>
            <a:r>
              <a:rPr lang="en-GB" sz="2800" dirty="0"/>
              <a:t>Your artefact</a:t>
            </a:r>
          </a:p>
          <a:p>
            <a:r>
              <a:rPr lang="en-GB" sz="2800" dirty="0"/>
              <a:t>The ethical approval process</a:t>
            </a:r>
          </a:p>
          <a:p>
            <a:r>
              <a:rPr lang="en-GB" sz="2800" dirty="0"/>
              <a:t>Academic misconduct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25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Academic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Why do I need an academic question?</a:t>
            </a:r>
          </a:p>
          <a:p>
            <a:pPr lvl="1"/>
            <a:r>
              <a:rPr lang="en-GB" sz="2600" dirty="0"/>
              <a:t>An academic question  will enable you to think clearly about your project – think about the goals you want to reach – to keep </a:t>
            </a:r>
            <a:r>
              <a:rPr lang="en-GB" sz="2600" b="1" dirty="0"/>
              <a:t>focus</a:t>
            </a:r>
            <a:r>
              <a:rPr lang="en-GB" sz="2600" dirty="0"/>
              <a:t> on your project.</a:t>
            </a:r>
          </a:p>
          <a:p>
            <a:endParaRPr lang="en-GB" sz="1600" dirty="0"/>
          </a:p>
          <a:p>
            <a:r>
              <a:rPr lang="en-GB" sz="2800" dirty="0"/>
              <a:t>Examples:</a:t>
            </a:r>
          </a:p>
          <a:p>
            <a:pPr lvl="1"/>
            <a:r>
              <a:rPr lang="en-GB" sz="2600" dirty="0"/>
              <a:t>“What are the main challenges involved to developing an algorithm to detect facial expressions? “</a:t>
            </a:r>
          </a:p>
          <a:p>
            <a:pPr lvl="1"/>
            <a:r>
              <a:rPr lang="en-GB" sz="2600" dirty="0"/>
              <a:t>“What are the main security threats to be considered when developing a web application?”</a:t>
            </a:r>
          </a:p>
        </p:txBody>
      </p:sp>
    </p:spTree>
    <p:extLst>
      <p:ext uri="{BB962C8B-B14F-4D97-AF65-F5344CB8AC3E}">
        <p14:creationId xmlns:p14="http://schemas.microsoft.com/office/powerpoint/2010/main" val="334414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Aims</a:t>
            </a:r>
            <a:r>
              <a:rPr lang="en-GB" dirty="0"/>
              <a:t>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The main aim of the project is to answer an Academic Question, BUT </a:t>
            </a:r>
            <a:r>
              <a:rPr lang="en-GB" sz="2800" b="1" dirty="0"/>
              <a:t>you should include a number (2-3) of other related aims</a:t>
            </a:r>
            <a:r>
              <a:rPr lang="en-GB" sz="2800" dirty="0"/>
              <a:t>.</a:t>
            </a:r>
          </a:p>
          <a:p>
            <a:pPr lvl="1"/>
            <a:r>
              <a:rPr lang="en-GB" sz="2600" dirty="0"/>
              <a:t>An aim is a short description of what you intend TO DO or ACHIEVE on the project.</a:t>
            </a:r>
          </a:p>
          <a:p>
            <a:pPr lvl="1"/>
            <a:r>
              <a:rPr lang="en-GB" sz="2600" dirty="0"/>
              <a:t>They may be statements of desired outcomes</a:t>
            </a:r>
          </a:p>
          <a:p>
            <a:pPr lvl="1"/>
            <a:r>
              <a:rPr lang="en-GB" sz="2600" dirty="0"/>
              <a:t>These Aims should be related to the project and should be </a:t>
            </a:r>
            <a:r>
              <a:rPr lang="en-GB" sz="2600" b="1" dirty="0"/>
              <a:t>related to the academic question </a:t>
            </a:r>
            <a:r>
              <a:rPr lang="en-GB" sz="2600" dirty="0"/>
              <a:t>of your project.</a:t>
            </a:r>
          </a:p>
          <a:p>
            <a:pPr lvl="1"/>
            <a:endParaRPr lang="en-GB" sz="2600" dirty="0"/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406799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Aims</a:t>
            </a:r>
            <a:r>
              <a:rPr lang="en-GB" dirty="0"/>
              <a:t> of the project - </a:t>
            </a:r>
            <a:r>
              <a:rPr lang="en-GB" dirty="0">
                <a:solidFill>
                  <a:srgbClr val="92D05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Academic question: </a:t>
            </a:r>
            <a:r>
              <a:rPr lang="en-GB" sz="2800" i="1" dirty="0"/>
              <a:t>“What are the main security threats to be considered when developing a web application?”</a:t>
            </a:r>
          </a:p>
          <a:p>
            <a:endParaRPr lang="en-GB" sz="2600" dirty="0"/>
          </a:p>
          <a:p>
            <a:r>
              <a:rPr lang="en-GB" sz="2600" dirty="0"/>
              <a:t>Aims: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</a:t>
            </a:r>
            <a:r>
              <a:rPr lang="en-GB" sz="2400" b="1" dirty="0"/>
              <a:t>investigate</a:t>
            </a:r>
            <a:r>
              <a:rPr lang="en-GB" sz="2400" dirty="0"/>
              <a:t> the main threats and possible solutions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</a:t>
            </a:r>
            <a:r>
              <a:rPr lang="en-GB" sz="2400" b="1" dirty="0"/>
              <a:t>implement</a:t>
            </a:r>
            <a:r>
              <a:rPr lang="en-GB" sz="2400" dirty="0"/>
              <a:t> a complex, database-driven web application</a:t>
            </a:r>
            <a:endParaRPr lang="en-GB" sz="2600" dirty="0"/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perform security </a:t>
            </a:r>
            <a:r>
              <a:rPr lang="en-GB" sz="2400" b="1" dirty="0"/>
              <a:t>testing</a:t>
            </a:r>
            <a:r>
              <a:rPr lang="en-GB" sz="2400" dirty="0"/>
              <a:t> using appropriate tools and methodology.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80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Objectives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b="1" dirty="0"/>
              <a:t>Objectives</a:t>
            </a:r>
            <a:r>
              <a:rPr lang="en-GB" sz="2800" dirty="0"/>
              <a:t> are derived from the aim(s), but are more </a:t>
            </a:r>
            <a:r>
              <a:rPr lang="en-GB" sz="2800" b="1" dirty="0"/>
              <a:t>specific</a:t>
            </a:r>
            <a:r>
              <a:rPr lang="en-GB" sz="2800" dirty="0"/>
              <a:t> and should be </a:t>
            </a:r>
            <a:r>
              <a:rPr lang="en-GB" sz="2800" b="1" dirty="0"/>
              <a:t>measurable</a:t>
            </a:r>
            <a:r>
              <a:rPr lang="en-GB" sz="2800" dirty="0"/>
              <a:t>.</a:t>
            </a:r>
          </a:p>
          <a:p>
            <a:pPr lvl="1"/>
            <a:r>
              <a:rPr lang="en-GB" sz="2600" dirty="0"/>
              <a:t>Emphasize how the aims are to be accomplished by objectives. </a:t>
            </a:r>
            <a:r>
              <a:rPr lang="en-GB" sz="2600" b="1" u="sng" dirty="0"/>
              <a:t>Almost a to-do list</a:t>
            </a:r>
            <a:r>
              <a:rPr lang="en-GB" sz="2600" dirty="0"/>
              <a:t>.</a:t>
            </a:r>
          </a:p>
          <a:p>
            <a:pPr lvl="1"/>
            <a:endParaRPr lang="en-GB" sz="900" dirty="0"/>
          </a:p>
          <a:p>
            <a:r>
              <a:rPr lang="en-GB" sz="2800" dirty="0"/>
              <a:t>Set ‘SMART’ objectives that are: </a:t>
            </a:r>
          </a:p>
          <a:p>
            <a:pPr lvl="1"/>
            <a:r>
              <a:rPr lang="en-GB" sz="2600" b="1" u="sng" dirty="0">
                <a:solidFill>
                  <a:srgbClr val="FF0000"/>
                </a:solidFill>
              </a:rPr>
              <a:t>S</a:t>
            </a:r>
            <a:r>
              <a:rPr lang="en-GB" sz="2600" b="1" dirty="0"/>
              <a:t>pecific</a:t>
            </a:r>
            <a:r>
              <a:rPr lang="en-GB" sz="2600" dirty="0"/>
              <a:t>  Be clear about what will be achieved </a:t>
            </a:r>
          </a:p>
          <a:p>
            <a:pPr lvl="1"/>
            <a:r>
              <a:rPr lang="en-GB" sz="2600" b="1" u="sng" dirty="0">
                <a:solidFill>
                  <a:srgbClr val="FF0000"/>
                </a:solidFill>
              </a:rPr>
              <a:t>M</a:t>
            </a:r>
            <a:r>
              <a:rPr lang="en-GB" sz="2600" b="1" dirty="0"/>
              <a:t>easurable</a:t>
            </a:r>
            <a:r>
              <a:rPr lang="en-GB" sz="2600" dirty="0"/>
              <a:t>  Quantify results and measure when they have been achieved  </a:t>
            </a:r>
          </a:p>
          <a:p>
            <a:pPr lvl="1"/>
            <a:r>
              <a:rPr lang="en-GB" sz="2600" b="1" u="sng" dirty="0">
                <a:solidFill>
                  <a:srgbClr val="FF0000"/>
                </a:solidFill>
              </a:rPr>
              <a:t>A</a:t>
            </a:r>
            <a:r>
              <a:rPr lang="en-GB" sz="2600" b="1" dirty="0"/>
              <a:t>chievable</a:t>
            </a:r>
            <a:r>
              <a:rPr lang="en-GB" sz="2600" dirty="0"/>
              <a:t>  Ensure they can be achieved </a:t>
            </a:r>
          </a:p>
          <a:p>
            <a:pPr lvl="1"/>
            <a:r>
              <a:rPr lang="en-GB" sz="2600" b="1" u="sng" dirty="0">
                <a:solidFill>
                  <a:srgbClr val="FF0000"/>
                </a:solidFill>
              </a:rPr>
              <a:t>R</a:t>
            </a:r>
            <a:r>
              <a:rPr lang="en-GB" sz="2600" b="1" dirty="0"/>
              <a:t>ealistic</a:t>
            </a:r>
            <a:r>
              <a:rPr lang="en-GB" sz="2600" dirty="0"/>
              <a:t>  Can be attained with within project resources </a:t>
            </a:r>
          </a:p>
          <a:p>
            <a:pPr lvl="1"/>
            <a:r>
              <a:rPr lang="en-GB" sz="2600" b="1" u="sng" dirty="0">
                <a:solidFill>
                  <a:srgbClr val="FF0000"/>
                </a:solidFill>
              </a:rPr>
              <a:t>T</a:t>
            </a:r>
            <a:r>
              <a:rPr lang="en-GB" sz="2600" b="1" dirty="0"/>
              <a:t>imed</a:t>
            </a:r>
            <a:r>
              <a:rPr lang="en-GB" sz="2600" dirty="0"/>
              <a:t>  Can be attained within a specified timescale. </a:t>
            </a:r>
          </a:p>
        </p:txBody>
      </p:sp>
    </p:spTree>
    <p:extLst>
      <p:ext uri="{BB962C8B-B14F-4D97-AF65-F5344CB8AC3E}">
        <p14:creationId xmlns:p14="http://schemas.microsoft.com/office/powerpoint/2010/main" val="54451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Objectives</a:t>
            </a:r>
            <a:r>
              <a:rPr lang="en-GB" dirty="0"/>
              <a:t> - example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Aims and their related objectives?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</a:t>
            </a:r>
            <a:r>
              <a:rPr lang="en-GB" sz="2400" b="1" dirty="0"/>
              <a:t>investigate</a:t>
            </a:r>
            <a:r>
              <a:rPr lang="en-GB" sz="2400" dirty="0"/>
              <a:t> the main threats and possible solutions</a:t>
            </a:r>
          </a:p>
          <a:p>
            <a:pPr marL="1234440" lvl="2" indent="-457200">
              <a:buFont typeface="+mj-lt"/>
              <a:buAutoNum type="arabicPeriod"/>
            </a:pPr>
            <a:r>
              <a:rPr lang="en-GB" sz="2200" dirty="0"/>
              <a:t>Investigate types of threats</a:t>
            </a:r>
          </a:p>
          <a:p>
            <a:pPr marL="1234440" lvl="2" indent="-457200">
              <a:buFont typeface="+mj-lt"/>
              <a:buAutoNum type="arabicPeriod"/>
            </a:pPr>
            <a:r>
              <a:rPr lang="en-GB" sz="2200" dirty="0"/>
              <a:t>Investigate possible solutions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</a:t>
            </a:r>
            <a:r>
              <a:rPr lang="en-GB" sz="2400" b="1" dirty="0"/>
              <a:t>implement</a:t>
            </a:r>
            <a:r>
              <a:rPr lang="en-GB" sz="2400" dirty="0"/>
              <a:t> a complex, database-driven web application</a:t>
            </a:r>
          </a:p>
          <a:p>
            <a:pPr marL="1234440" lvl="2" indent="-457200">
              <a:buFont typeface="+mj-lt"/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Let’s do these together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GB" sz="2400" dirty="0"/>
              <a:t>To perform security </a:t>
            </a:r>
            <a:r>
              <a:rPr lang="en-GB" sz="2400" b="1" dirty="0"/>
              <a:t>testing</a:t>
            </a:r>
            <a:r>
              <a:rPr lang="en-GB" sz="2400" dirty="0"/>
              <a:t> using appropriate tools and methodologies.</a:t>
            </a:r>
          </a:p>
          <a:p>
            <a:pPr marL="1234440" lvl="2" indent="-457200">
              <a:buFont typeface="+mj-lt"/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Let’s do these together</a:t>
            </a:r>
          </a:p>
          <a:p>
            <a:pPr marL="1234440" lvl="2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Cloud Callout 3"/>
          <p:cNvSpPr/>
          <p:nvPr/>
        </p:nvSpPr>
        <p:spPr>
          <a:xfrm>
            <a:off x="5562600" y="5410200"/>
            <a:ext cx="3352800" cy="1295400"/>
          </a:xfrm>
          <a:prstGeom prst="cloudCallout">
            <a:avLst>
              <a:gd name="adj1" fmla="val -64271"/>
              <a:gd name="adj2" fmla="val -10294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Are they all SMART objectives?</a:t>
            </a:r>
          </a:p>
        </p:txBody>
      </p:sp>
    </p:spTree>
    <p:extLst>
      <p:ext uri="{BB962C8B-B14F-4D97-AF65-F5344CB8AC3E}">
        <p14:creationId xmlns:p14="http://schemas.microsoft.com/office/powerpoint/2010/main" val="219564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Artefact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Questions we often get:</a:t>
            </a:r>
          </a:p>
          <a:p>
            <a:pPr lvl="1"/>
            <a:r>
              <a:rPr lang="en-GB" sz="2400" dirty="0"/>
              <a:t>“What should my artefact be?”</a:t>
            </a:r>
          </a:p>
          <a:p>
            <a:pPr lvl="1"/>
            <a:r>
              <a:rPr lang="en-GB" sz="2400" dirty="0"/>
              <a:t>“How complex does it need to be?”</a:t>
            </a:r>
          </a:p>
          <a:p>
            <a:pPr lvl="1"/>
            <a:endParaRPr lang="en-GB" sz="2400" dirty="0"/>
          </a:p>
          <a:p>
            <a:r>
              <a:rPr lang="en-GB" sz="2600" dirty="0"/>
              <a:t>Your artefact should:</a:t>
            </a:r>
          </a:p>
          <a:p>
            <a:pPr lvl="1"/>
            <a:r>
              <a:rPr lang="en-GB" sz="2400" dirty="0"/>
              <a:t>Have a sufficient </a:t>
            </a:r>
            <a:r>
              <a:rPr lang="en-GB" sz="2400" b="1" u="sng" dirty="0"/>
              <a:t>level of challenge.</a:t>
            </a:r>
            <a:endParaRPr lang="en-GB" sz="2400" dirty="0"/>
          </a:p>
          <a:p>
            <a:pPr lvl="1"/>
            <a:r>
              <a:rPr lang="en-GB" sz="2400" dirty="0"/>
              <a:t>Be </a:t>
            </a:r>
            <a:r>
              <a:rPr lang="en-GB" sz="2400" b="1" u="sng" dirty="0"/>
              <a:t>related</a:t>
            </a:r>
            <a:r>
              <a:rPr lang="en-GB" sz="2400" dirty="0"/>
              <a:t> to your </a:t>
            </a:r>
            <a:r>
              <a:rPr lang="en-GB" sz="2400" b="1" u="sng" dirty="0"/>
              <a:t>aims and objectives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717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Artefact – level of challenge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029200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All project marking will take into account the ‘Level of Challenge’ of a project.</a:t>
            </a:r>
          </a:p>
          <a:p>
            <a:pPr lvl="1"/>
            <a:r>
              <a:rPr lang="en-GB" sz="2600" dirty="0"/>
              <a:t>This is to take into consideration ‘easy’ projects completed to a high standard and ‘difficult’ projects competed to a lower standard.</a:t>
            </a:r>
          </a:p>
          <a:p>
            <a:pPr lvl="1"/>
            <a:endParaRPr lang="en-GB" sz="1300" dirty="0"/>
          </a:p>
          <a:p>
            <a:r>
              <a:rPr lang="en-GB" sz="2800" dirty="0"/>
              <a:t>Typical Factors:</a:t>
            </a:r>
          </a:p>
          <a:p>
            <a:pPr lvl="1"/>
            <a:r>
              <a:rPr lang="en-GB" sz="2600" dirty="0"/>
              <a:t>Problems overcome – more difficult than initially expected.</a:t>
            </a:r>
          </a:p>
          <a:p>
            <a:pPr lvl="1"/>
            <a:r>
              <a:rPr lang="en-GB" sz="2600" dirty="0"/>
              <a:t>Information readily available. </a:t>
            </a:r>
          </a:p>
          <a:p>
            <a:pPr lvl="1"/>
            <a:r>
              <a:rPr lang="en-GB" sz="2600" dirty="0"/>
              <a:t>Breadth and Depth of the project</a:t>
            </a:r>
          </a:p>
          <a:p>
            <a:pPr lvl="1"/>
            <a:r>
              <a:rPr lang="en-GB" sz="2600" dirty="0"/>
              <a:t>Demonstration may help staff to judge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1693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Artefact – level of challenge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029200"/>
          </a:xfrm>
        </p:spPr>
        <p:txBody>
          <a:bodyPr>
            <a:normAutofit/>
          </a:bodyPr>
          <a:lstStyle/>
          <a:p>
            <a:r>
              <a:rPr lang="en-GB" sz="2800" dirty="0"/>
              <a:t>Project with “Low level challenge”</a:t>
            </a:r>
          </a:p>
          <a:p>
            <a:pPr lvl="1"/>
            <a:r>
              <a:rPr lang="en-GB" sz="2600" dirty="0"/>
              <a:t>Information readily available, all parts fully known, basic artefact to be developed. </a:t>
            </a:r>
          </a:p>
          <a:p>
            <a:pPr lvl="1"/>
            <a:r>
              <a:rPr lang="en-GB" sz="2600" dirty="0"/>
              <a:t>Few tools used</a:t>
            </a:r>
          </a:p>
          <a:p>
            <a:pPr lvl="1"/>
            <a:r>
              <a:rPr lang="en-GB" sz="2600" dirty="0"/>
              <a:t>Simple technologies used</a:t>
            </a:r>
          </a:p>
          <a:p>
            <a:r>
              <a:rPr lang="en-GB" sz="2800" dirty="0"/>
              <a:t>Project with “High level challenge”</a:t>
            </a:r>
          </a:p>
          <a:p>
            <a:pPr lvl="1"/>
            <a:r>
              <a:rPr lang="en-GB" sz="2600" dirty="0"/>
              <a:t>A real project or Industry lead</a:t>
            </a:r>
          </a:p>
          <a:p>
            <a:pPr lvl="1"/>
            <a:r>
              <a:rPr lang="en-GB" sz="2600" dirty="0"/>
              <a:t>Unknown direction of the project.</a:t>
            </a:r>
          </a:p>
          <a:p>
            <a:pPr lvl="1"/>
            <a:r>
              <a:rPr lang="en-GB" sz="2600" dirty="0"/>
              <a:t>Information not readily available</a:t>
            </a:r>
          </a:p>
          <a:p>
            <a:pPr lvl="1"/>
            <a:r>
              <a:rPr lang="en-GB" sz="2600" dirty="0"/>
              <a:t>A range of tools and technologies to be used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9956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Artefact – related to aims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The whole point of your artefact is to help you </a:t>
            </a:r>
            <a:r>
              <a:rPr lang="en-GB" sz="2800" b="1" dirty="0"/>
              <a:t>answer your academic question</a:t>
            </a:r>
            <a:r>
              <a:rPr lang="en-GB" sz="2800" dirty="0"/>
              <a:t>.</a:t>
            </a:r>
          </a:p>
          <a:p>
            <a:pPr lvl="1"/>
            <a:r>
              <a:rPr lang="en-GB" sz="2600" dirty="0"/>
              <a:t>E.g. You will apply a testing methodology to it, and obtain some results, metrics, etc.</a:t>
            </a:r>
          </a:p>
          <a:p>
            <a:pPr lvl="1"/>
            <a:endParaRPr lang="en-GB" sz="2600" dirty="0"/>
          </a:p>
          <a:p>
            <a:r>
              <a:rPr lang="en-GB" sz="2800" dirty="0"/>
              <a:t>E.g. There is no point in having an academic question about web app security, and then create a static HTML/CSS website.</a:t>
            </a:r>
          </a:p>
          <a:p>
            <a:pPr lvl="1"/>
            <a:r>
              <a:rPr lang="en-GB" sz="2600" dirty="0"/>
              <a:t>You would need forms, user accounts, a database that could be SQL injected etc.</a:t>
            </a:r>
          </a:p>
        </p:txBody>
      </p:sp>
    </p:spTree>
    <p:extLst>
      <p:ext uri="{BB962C8B-B14F-4D97-AF65-F5344CB8AC3E}">
        <p14:creationId xmlns:p14="http://schemas.microsoft.com/office/powerpoint/2010/main" val="81693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approval process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b="1" u="sng" dirty="0"/>
              <a:t>All projects</a:t>
            </a:r>
            <a:r>
              <a:rPr lang="en-GB" sz="2600" dirty="0"/>
              <a:t> should go through the </a:t>
            </a:r>
            <a:r>
              <a:rPr lang="en-GB" sz="2600" b="1" dirty="0"/>
              <a:t>ethical approval process</a:t>
            </a:r>
            <a:r>
              <a:rPr lang="en-GB" sz="2600" dirty="0"/>
              <a:t>.</a:t>
            </a:r>
          </a:p>
          <a:p>
            <a:pPr lvl="1"/>
            <a:r>
              <a:rPr lang="en-GB" dirty="0"/>
              <a:t>Let’s take a look at page 5 in the Project Handbook (on Canvas)</a:t>
            </a:r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87526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Academic Misconduct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Forms of academic misconduct</a:t>
            </a:r>
          </a:p>
          <a:p>
            <a:pPr lvl="1"/>
            <a:r>
              <a:rPr lang="en-GB" sz="2400" dirty="0"/>
              <a:t>Plagiarism </a:t>
            </a:r>
          </a:p>
          <a:p>
            <a:pPr lvl="1"/>
            <a:r>
              <a:rPr lang="en-GB" sz="2400" dirty="0"/>
              <a:t>Collusion </a:t>
            </a:r>
          </a:p>
          <a:p>
            <a:pPr lvl="1"/>
            <a:r>
              <a:rPr lang="en-GB" sz="2400" dirty="0"/>
              <a:t>Inappropriate use of AI</a:t>
            </a:r>
          </a:p>
          <a:p>
            <a:endParaRPr lang="en-GB" sz="2000" dirty="0"/>
          </a:p>
          <a:p>
            <a:r>
              <a:rPr lang="en-GB" sz="2600" dirty="0"/>
              <a:t>Penalties range from:</a:t>
            </a:r>
          </a:p>
          <a:p>
            <a:pPr lvl="1"/>
            <a:r>
              <a:rPr lang="en-GB" sz="2400" dirty="0"/>
              <a:t>failure of an assessment</a:t>
            </a:r>
          </a:p>
          <a:p>
            <a:pPr lvl="1"/>
            <a:r>
              <a:rPr lang="en-GB" sz="2400" dirty="0"/>
              <a:t>failure of the module </a:t>
            </a:r>
          </a:p>
          <a:p>
            <a:pPr lvl="1"/>
            <a:r>
              <a:rPr lang="en-GB" sz="2400" dirty="0"/>
              <a:t>failure of the course</a:t>
            </a:r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44749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Plagiarism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Plagiarism</a:t>
            </a:r>
          </a:p>
          <a:p>
            <a:pPr lvl="1"/>
            <a:r>
              <a:rPr lang="en-GB" sz="2400" dirty="0"/>
              <a:t>The use of someone else’s work without attributing it to that person </a:t>
            </a:r>
          </a:p>
          <a:p>
            <a:pPr lvl="1"/>
            <a:r>
              <a:rPr lang="en-GB" sz="2400" dirty="0"/>
              <a:t>Usually copying of text/</a:t>
            </a:r>
            <a:r>
              <a:rPr lang="en-GB" sz="2400" b="1" dirty="0"/>
              <a:t>code</a:t>
            </a:r>
            <a:r>
              <a:rPr lang="en-GB" sz="2400" dirty="0"/>
              <a:t> from internet articles, and pasting it into an assessment – your project</a:t>
            </a:r>
          </a:p>
          <a:p>
            <a:pPr lvl="1"/>
            <a:r>
              <a:rPr lang="en-GB" sz="2400" dirty="0"/>
              <a:t>Copying of another student’s work with or without permission</a:t>
            </a:r>
          </a:p>
          <a:p>
            <a:pPr lvl="1"/>
            <a:endParaRPr lang="en-GB" sz="2400" dirty="0"/>
          </a:p>
          <a:p>
            <a:r>
              <a:rPr lang="en-GB" sz="2600" dirty="0"/>
              <a:t>To avoid plagiarism, </a:t>
            </a:r>
            <a:r>
              <a:rPr lang="en-GB" sz="2600" b="1" u="sng" dirty="0"/>
              <a:t>you must give credit</a:t>
            </a:r>
            <a:r>
              <a:rPr lang="en-GB" sz="2600" dirty="0"/>
              <a:t> – reference the work (quotations, paraphrasing, summarizing)</a:t>
            </a:r>
          </a:p>
        </p:txBody>
      </p:sp>
    </p:spTree>
    <p:extLst>
      <p:ext uri="{BB962C8B-B14F-4D97-AF65-F5344CB8AC3E}">
        <p14:creationId xmlns:p14="http://schemas.microsoft.com/office/powerpoint/2010/main" val="31942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Plagiarism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>
                <a:solidFill>
                  <a:srgbClr val="FF0000"/>
                </a:solidFill>
              </a:rPr>
              <a:t>All projects will be submitted to Turnitin</a:t>
            </a:r>
            <a:r>
              <a:rPr lang="en-GB" sz="2600" dirty="0"/>
              <a:t>.</a:t>
            </a:r>
          </a:p>
          <a:p>
            <a:pPr lvl="1"/>
            <a:r>
              <a:rPr lang="en-GB" sz="2400" dirty="0"/>
              <a:t>Checks for plagiarised material</a:t>
            </a:r>
          </a:p>
          <a:p>
            <a:endParaRPr lang="en-GB" sz="2600" dirty="0"/>
          </a:p>
          <a:p>
            <a:r>
              <a:rPr lang="en-GB" sz="2600" dirty="0"/>
              <a:t>Checks submitted work against:</a:t>
            </a:r>
          </a:p>
          <a:p>
            <a:pPr lvl="1"/>
            <a:r>
              <a:rPr lang="en-GB" sz="2400" dirty="0"/>
              <a:t>20+ billion web pages</a:t>
            </a:r>
          </a:p>
          <a:p>
            <a:pPr lvl="1"/>
            <a:r>
              <a:rPr lang="en-GB" sz="2400" dirty="0"/>
              <a:t>220+ million reports/papers</a:t>
            </a:r>
          </a:p>
          <a:p>
            <a:pPr lvl="1"/>
            <a:r>
              <a:rPr lang="en-GB" sz="2400" dirty="0"/>
              <a:t>90+ million publications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943600"/>
            <a:ext cx="2619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496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Collusion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Collusion - 2 or more persons producing work and each handing in that work as their own partial or complete assessment</a:t>
            </a:r>
          </a:p>
          <a:p>
            <a:pPr lvl="1"/>
            <a:r>
              <a:rPr lang="en-GB" sz="2400"/>
              <a:t>For example, </a:t>
            </a:r>
            <a:r>
              <a:rPr lang="en-GB" sz="2400" dirty="0"/>
              <a:t>where a joint effort has taken place.</a:t>
            </a:r>
          </a:p>
          <a:p>
            <a:endParaRPr lang="en-GB" sz="2400" dirty="0"/>
          </a:p>
          <a:p>
            <a:r>
              <a:rPr lang="en-GB" sz="2800" dirty="0"/>
              <a:t>What is allowed?</a:t>
            </a:r>
          </a:p>
          <a:p>
            <a:pPr lvl="1"/>
            <a:r>
              <a:rPr lang="en-GB" sz="2400" dirty="0"/>
              <a:t>Working together to exchange ideas BUT  the actual work and final write up has to be your own.</a:t>
            </a:r>
          </a:p>
          <a:p>
            <a:endParaRPr lang="en-GB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943600"/>
            <a:ext cx="2619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96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B70E-21E5-3B30-0D5E-3AA492EC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5665-AD9A-A6E7-FE91-454C64D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– what is acceptable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5589A-B4EA-3163-FA9E-1C347372B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800" i="1" dirty="0"/>
              <a:t>“Am I allowed to use ChatGPT or Copilot for my project?”</a:t>
            </a:r>
          </a:p>
          <a:p>
            <a:endParaRPr lang="en-GB" sz="2800" dirty="0"/>
          </a:p>
          <a:p>
            <a:r>
              <a:rPr lang="en-GB" sz="2800" dirty="0"/>
              <a:t>What is acceptable:</a:t>
            </a:r>
          </a:p>
          <a:p>
            <a:pPr lvl="1"/>
            <a:r>
              <a:rPr lang="en-GB" sz="2600" dirty="0"/>
              <a:t>Use AI for initial research and idea generation</a:t>
            </a:r>
          </a:p>
          <a:p>
            <a:pPr lvl="1"/>
            <a:r>
              <a:rPr lang="en-GB" sz="2600" dirty="0"/>
              <a:t>Use AI to improve your writing</a:t>
            </a:r>
          </a:p>
          <a:p>
            <a:pPr lvl="1"/>
            <a:r>
              <a:rPr lang="en-GB" sz="2600" dirty="0"/>
              <a:t>Use AI to clarify complex concepts</a:t>
            </a:r>
          </a:p>
        </p:txBody>
      </p:sp>
    </p:spTree>
    <p:extLst>
      <p:ext uri="{BB962C8B-B14F-4D97-AF65-F5344CB8AC3E}">
        <p14:creationId xmlns:p14="http://schemas.microsoft.com/office/powerpoint/2010/main" val="390223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E6DD-EB05-92FD-F82C-EDFA754D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84EE-A39D-4C09-E183-693A4176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– what is </a:t>
            </a:r>
            <a:r>
              <a:rPr lang="en-GB" u="sng" dirty="0"/>
              <a:t>NOT</a:t>
            </a:r>
            <a:r>
              <a:rPr lang="en-GB" dirty="0"/>
              <a:t> acceptable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BE0A7-C79E-9AF0-4069-5FEA6DF93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2800" dirty="0"/>
              <a:t>Don't Submit AI-Generated Text as Your Own</a:t>
            </a:r>
          </a:p>
          <a:p>
            <a:pPr lvl="1"/>
            <a:r>
              <a:rPr lang="en-GB" sz="2600" dirty="0"/>
              <a:t>Don’t copy and paste large portions of AI-generated content directly into assignments. Your report should represent </a:t>
            </a:r>
            <a:r>
              <a:rPr lang="en-GB" sz="2600" b="1" dirty="0"/>
              <a:t>your</a:t>
            </a:r>
            <a:r>
              <a:rPr lang="en-GB" sz="2600" dirty="0"/>
              <a:t> original work, analysis, and understanding.</a:t>
            </a:r>
          </a:p>
          <a:p>
            <a:endParaRPr lang="en-GB" sz="2800" dirty="0"/>
          </a:p>
          <a:p>
            <a:r>
              <a:rPr lang="en-GB" sz="2800" dirty="0"/>
              <a:t>Don’t Rely on AI for Critical Analysis</a:t>
            </a:r>
          </a:p>
          <a:p>
            <a:pPr lvl="1"/>
            <a:r>
              <a:rPr lang="en-GB" sz="2600" dirty="0"/>
              <a:t>Don’t expect AI to perform critical thinking for you. It can suggest ideas, but the in-depth analysis, interpretation of results, and discussion are key parts of your report that need personal insight.</a:t>
            </a:r>
          </a:p>
          <a:p>
            <a:endParaRPr lang="en-GB" sz="2800" dirty="0"/>
          </a:p>
          <a:p>
            <a:r>
              <a:rPr lang="en-GB" sz="2800" dirty="0"/>
              <a:t>Don’t Use AI for Falsifying or Fabricating Data</a:t>
            </a:r>
          </a:p>
          <a:p>
            <a:pPr lvl="1"/>
            <a:r>
              <a:rPr lang="en-GB" sz="2600" dirty="0"/>
              <a:t>Don’t use AI to create or modify experimental data to fit your hypotheses. Falsification of results is a serious breach of academic integrity.</a:t>
            </a:r>
          </a:p>
        </p:txBody>
      </p:sp>
    </p:spTree>
    <p:extLst>
      <p:ext uri="{BB962C8B-B14F-4D97-AF65-F5344CB8AC3E}">
        <p14:creationId xmlns:p14="http://schemas.microsoft.com/office/powerpoint/2010/main" val="41808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Cheating has consequences!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The University considers plagiarism as a </a:t>
            </a:r>
            <a:r>
              <a:rPr lang="en-GB" sz="2600" dirty="0">
                <a:solidFill>
                  <a:srgbClr val="FF0000"/>
                </a:solidFill>
              </a:rPr>
              <a:t>Very Serious Offence</a:t>
            </a:r>
            <a:r>
              <a:rPr lang="en-GB" sz="2600" dirty="0"/>
              <a:t> – All suspect reports and material are brought to the attention of the Module Leader.</a:t>
            </a:r>
          </a:p>
          <a:p>
            <a:pPr lvl="1"/>
            <a:r>
              <a:rPr lang="en-GB" sz="2400" dirty="0"/>
              <a:t>The University is aware of the many forms this may take, including the purchase of projects over the Web</a:t>
            </a:r>
          </a:p>
          <a:p>
            <a:endParaRPr lang="en-GB" sz="2600" dirty="0"/>
          </a:p>
          <a:p>
            <a:r>
              <a:rPr lang="en-GB" sz="2600" dirty="0"/>
              <a:t>How do we detect it?</a:t>
            </a:r>
          </a:p>
          <a:p>
            <a:pPr lvl="1"/>
            <a:r>
              <a:rPr lang="en-GB" sz="2400" dirty="0"/>
              <a:t>Continuous monitoring of your work</a:t>
            </a:r>
          </a:p>
          <a:p>
            <a:pPr lvl="1"/>
            <a:r>
              <a:rPr lang="en-GB" sz="2400" dirty="0"/>
              <a:t>Presentations/</a:t>
            </a:r>
            <a:r>
              <a:rPr lang="en-GB" sz="2400" dirty="0" err="1"/>
              <a:t>Vivas</a:t>
            </a:r>
            <a:endParaRPr lang="en-GB" sz="2400" dirty="0"/>
          </a:p>
          <a:p>
            <a:pPr lvl="1"/>
            <a:r>
              <a:rPr lang="en-GB" sz="2400" dirty="0" err="1"/>
              <a:t>TurnItIn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1741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600200"/>
            <a:ext cx="7921625" cy="480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800" dirty="0"/>
              <a:t>Finalize your </a:t>
            </a:r>
            <a:r>
              <a:rPr lang="en-GB" sz="2800" b="1" dirty="0"/>
              <a:t>topic</a:t>
            </a:r>
            <a:r>
              <a:rPr lang="en-GB" sz="2800" dirty="0"/>
              <a:t> and </a:t>
            </a:r>
            <a:r>
              <a:rPr lang="en-GB" sz="2800" b="1" dirty="0"/>
              <a:t>academic question</a:t>
            </a:r>
            <a:r>
              <a:rPr lang="en-GB" sz="2800" dirty="0"/>
              <a:t>.</a:t>
            </a:r>
          </a:p>
          <a:p>
            <a:pPr>
              <a:defRPr/>
            </a:pPr>
            <a:r>
              <a:rPr lang="en-GB" sz="2800" dirty="0"/>
              <a:t>Start thinking of </a:t>
            </a:r>
            <a:r>
              <a:rPr lang="en-GB" sz="2800" b="1" dirty="0"/>
              <a:t>aims</a:t>
            </a:r>
            <a:r>
              <a:rPr lang="en-GB" sz="2800" dirty="0"/>
              <a:t> and </a:t>
            </a:r>
            <a:r>
              <a:rPr lang="en-GB" sz="2800" b="1" dirty="0"/>
              <a:t>objective</a:t>
            </a:r>
          </a:p>
          <a:p>
            <a:pPr>
              <a:defRPr/>
            </a:pPr>
            <a:r>
              <a:rPr lang="en-GB" sz="2800" dirty="0"/>
              <a:t>Start thinking about what kind of </a:t>
            </a:r>
            <a:r>
              <a:rPr lang="en-GB" sz="2800" b="1" dirty="0"/>
              <a:t>artefact</a:t>
            </a:r>
            <a:r>
              <a:rPr lang="en-GB" sz="2800" dirty="0"/>
              <a:t> you will need to produce in order to meet your aims.</a:t>
            </a:r>
          </a:p>
          <a:p>
            <a:pPr>
              <a:defRPr/>
            </a:pPr>
            <a:endParaRPr lang="en-GB" sz="2800" dirty="0"/>
          </a:p>
          <a:p>
            <a:pPr>
              <a:defRPr/>
            </a:pPr>
            <a:r>
              <a:rPr lang="en-GB" sz="2800" b="1" u="sng" dirty="0"/>
              <a:t>Keep talking to staff</a:t>
            </a:r>
            <a:r>
              <a:rPr lang="en-GB" sz="2800" dirty="0"/>
              <a:t>, we are here to help!</a:t>
            </a:r>
          </a:p>
        </p:txBody>
      </p:sp>
      <p:sp>
        <p:nvSpPr>
          <p:cNvPr id="4" name="AutoShape 4" descr="BCS, The Chartered Institute for IT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238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975" y="1600200"/>
            <a:ext cx="7921625" cy="480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800" dirty="0"/>
              <a:t>??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4" name="AutoShape 4" descr="BCS, The Chartered Institute for IT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560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192</TotalTime>
  <Words>1117</Words>
  <Application>Microsoft Office PowerPoint</Application>
  <PresentationFormat>On-screen Show (4:3)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Adjacency</vt:lpstr>
      <vt:lpstr>Projects and Professionalism Lecture 2</vt:lpstr>
      <vt:lpstr>What we will cover today</vt:lpstr>
      <vt:lpstr>Academic question</vt:lpstr>
      <vt:lpstr>Aims of the project</vt:lpstr>
      <vt:lpstr>Aims of the project - example</vt:lpstr>
      <vt:lpstr>Objectives</vt:lpstr>
      <vt:lpstr>Objectives - example</vt:lpstr>
      <vt:lpstr>Artefact</vt:lpstr>
      <vt:lpstr>Artefact – level of challenge</vt:lpstr>
      <vt:lpstr>Artefact – level of challenge</vt:lpstr>
      <vt:lpstr>Artefact – related to aims</vt:lpstr>
      <vt:lpstr>Ethical approval process</vt:lpstr>
      <vt:lpstr>Academic Misconduct</vt:lpstr>
      <vt:lpstr>Plagiarism</vt:lpstr>
      <vt:lpstr>Plagiarism</vt:lpstr>
      <vt:lpstr>Collusion</vt:lpstr>
      <vt:lpstr>AI – what is acceptable</vt:lpstr>
      <vt:lpstr>AI – what is NOT acceptable</vt:lpstr>
      <vt:lpstr>Cheating has consequences!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 and Professionalism Lecture 1</dc:title>
  <dc:creator>Alix PC</dc:creator>
  <cp:lastModifiedBy>Bergeret, Alix</cp:lastModifiedBy>
  <cp:revision>70</cp:revision>
  <dcterms:created xsi:type="dcterms:W3CDTF">2006-08-16T00:00:00Z</dcterms:created>
  <dcterms:modified xsi:type="dcterms:W3CDTF">2025-09-04T15:27:26Z</dcterms:modified>
</cp:coreProperties>
</file>